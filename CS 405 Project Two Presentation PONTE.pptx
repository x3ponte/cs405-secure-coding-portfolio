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wholeTbl>
    <a:band2H>
      <a:tcTxStyle b="def" i="def"/>
      <a:tcStyle>
        <a:tcBdr/>
        <a:fill>
          <a:solidFill>
            <a:srgbClr val="FFFFFF"/>
          </a:solidFill>
        </a:fill>
      </a:tcStyle>
    </a:band2H>
    <a:firstCo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Col>
    <a:la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lastRow>
    <a:fir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3CCCB"/>
          </a:solidFill>
        </a:fill>
      </a:tcStyle>
    </a:wholeTbl>
    <a:band2H>
      <a:tcTxStyle b="def" i="def"/>
      <a:tcStyle>
        <a:tcBdr/>
        <a:fill>
          <a:solidFill>
            <a:srgbClr val="F9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6E8CC"/>
          </a:solidFill>
        </a:fill>
      </a:tcStyle>
    </a:wholeTbl>
    <a:band2H>
      <a:tcTxStyle b="def" i="def"/>
      <a:tcStyle>
        <a:tcBdr/>
        <a:fill>
          <a:solidFill>
            <a:srgbClr val="FBF4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DEF2"/>
          </a:solidFill>
        </a:fill>
      </a:tcStyle>
    </a:wholeTbl>
    <a:band2H>
      <a:tcTxStyle b="def" i="def"/>
      <a:tcStyle>
        <a:tcBdr/>
        <a:fill>
          <a:solidFill>
            <a:srgbClr val="E8EFF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92" name="Shape 192"/>
          <p:cNvSpPr/>
          <p:nvPr>
            <p:ph type="sldImg"/>
          </p:nvPr>
        </p:nvSpPr>
        <p:spPr>
          <a:xfrm>
            <a:off x="1143000" y="685800"/>
            <a:ext cx="4572000" cy="3429000"/>
          </a:xfrm>
          <a:prstGeom prst="rect">
            <a:avLst/>
          </a:prstGeom>
        </p:spPr>
        <p:txBody>
          <a:bodyPr/>
          <a:lstStyle/>
          <a:p>
            <a:pPr/>
          </a:p>
        </p:txBody>
      </p:sp>
      <p:sp>
        <p:nvSpPr>
          <p:cNvPr id="193" name="Shape 19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pic>
        <p:nvPicPr>
          <p:cNvPr id="12" name="Google Shape;6;p15" descr="Google Shape;6;p15"/>
          <p:cNvPicPr>
            <a:picLocks noChangeAspect="1"/>
          </p:cNvPicPr>
          <p:nvPr/>
        </p:nvPicPr>
        <p:blipFill>
          <a:blip r:embed="rId2">
            <a:extLst/>
          </a:blip>
          <a:stretch>
            <a:fillRect/>
          </a:stretch>
        </p:blipFill>
        <p:spPr>
          <a:xfrm>
            <a:off x="0" y="0"/>
            <a:ext cx="12192000" cy="1441450"/>
          </a:xfrm>
          <a:prstGeom prst="rect">
            <a:avLst/>
          </a:prstGeom>
          <a:ln w="12700">
            <a:miter lim="400000"/>
          </a:ln>
        </p:spPr>
      </p:pic>
      <p:pic>
        <p:nvPicPr>
          <p:cNvPr id="13" name="Google Shape;13;p16" descr="Google Shape;13;p16"/>
          <p:cNvPicPr>
            <a:picLocks noChangeAspect="1"/>
          </p:cNvPicPr>
          <p:nvPr/>
        </p:nvPicPr>
        <p:blipFill>
          <a:blip r:embed="rId3">
            <a:extLst/>
          </a:blip>
          <a:stretch>
            <a:fillRect/>
          </a:stretch>
        </p:blipFill>
        <p:spPr>
          <a:xfrm>
            <a:off x="0" y="4375150"/>
            <a:ext cx="12192000" cy="2482850"/>
          </a:xfrm>
          <a:prstGeom prst="rect">
            <a:avLst/>
          </a:prstGeom>
          <a:ln w="12700">
            <a:miter lim="400000"/>
          </a:ln>
        </p:spPr>
      </p:pic>
      <p:sp>
        <p:nvSpPr>
          <p:cNvPr id="14" name="Title Text"/>
          <p:cNvSpPr txBox="1"/>
          <p:nvPr>
            <p:ph type="title"/>
          </p:nvPr>
        </p:nvSpPr>
        <p:spPr>
          <a:xfrm>
            <a:off x="1371600" y="1803405"/>
            <a:ext cx="9448800" cy="1825097"/>
          </a:xfrm>
          <a:prstGeom prst="rect">
            <a:avLst/>
          </a:prstGeom>
        </p:spPr>
        <p:txBody>
          <a:bodyPr anchor="b"/>
          <a:lstStyle>
            <a:lvl1pPr algn="l">
              <a:defRPr sz="6000"/>
            </a:lvl1pPr>
          </a:lstStyle>
          <a:p>
            <a:pPr/>
            <a:r>
              <a:t>Title Text</a:t>
            </a:r>
          </a:p>
        </p:txBody>
      </p:sp>
      <p:sp>
        <p:nvSpPr>
          <p:cNvPr id="15" name="Body Level One…"/>
          <p:cNvSpPr txBox="1"/>
          <p:nvPr>
            <p:ph type="body" sz="quarter" idx="1"/>
          </p:nvPr>
        </p:nvSpPr>
        <p:spPr>
          <a:xfrm>
            <a:off x="1371600" y="3632201"/>
            <a:ext cx="9448800" cy="685801"/>
          </a:xfrm>
          <a:prstGeom prst="rect">
            <a:avLst/>
          </a:prstGeom>
        </p:spPr>
        <p:txBody>
          <a:bodyPr/>
          <a:lstStyle>
            <a:lvl1pPr marL="368300" indent="-279400">
              <a:buClrTx/>
              <a:buSzTx/>
              <a:buFontTx/>
              <a:buNone/>
              <a:defRPr sz="2000"/>
            </a:lvl1pPr>
            <a:lvl2pPr marL="368300" indent="190500">
              <a:buClrTx/>
              <a:buSzTx/>
              <a:buFontTx/>
              <a:buNone/>
              <a:defRPr sz="2000"/>
            </a:lvl2pPr>
            <a:lvl3pPr marL="368300" indent="660400">
              <a:buClrTx/>
              <a:buSzTx/>
              <a:buFontTx/>
              <a:buNone/>
              <a:defRPr sz="2000"/>
            </a:lvl3pPr>
            <a:lvl4pPr marL="368300" indent="1130300">
              <a:buClrTx/>
              <a:buSzTx/>
              <a:buFontTx/>
              <a:buNone/>
              <a:defRPr sz="2000"/>
            </a:lvl4pPr>
            <a:lvl5pPr marL="368300" indent="1587500">
              <a:buClrTx/>
              <a:buSzTx/>
              <a:buFont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16" name="Slide Number"/>
          <p:cNvSpPr txBox="1"/>
          <p:nvPr>
            <p:ph type="sldNum" sz="quarter" idx="2"/>
          </p:nvPr>
        </p:nvSpPr>
        <p:spPr>
          <a:xfrm>
            <a:off x="10575533" y="1491528"/>
            <a:ext cx="244868" cy="2438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
    <p:spTree>
      <p:nvGrpSpPr>
        <p:cNvPr id="1" name=""/>
        <p:cNvGrpSpPr/>
        <p:nvPr/>
      </p:nvGrpSpPr>
      <p:grpSpPr>
        <a:xfrm>
          <a:off x="0" y="0"/>
          <a:ext cx="0" cy="0"/>
          <a:chOff x="0" y="0"/>
          <a:chExt cx="0" cy="0"/>
        </a:xfrm>
      </p:grpSpPr>
      <p:pic>
        <p:nvPicPr>
          <p:cNvPr id="23" name="Google Shape;6;p15" descr="Google Shape;6;p15"/>
          <p:cNvPicPr>
            <a:picLocks noChangeAspect="1"/>
          </p:cNvPicPr>
          <p:nvPr/>
        </p:nvPicPr>
        <p:blipFill>
          <a:blip r:embed="rId2">
            <a:extLst/>
          </a:blip>
          <a:stretch>
            <a:fillRect/>
          </a:stretch>
        </p:blipFill>
        <p:spPr>
          <a:xfrm>
            <a:off x="0" y="0"/>
            <a:ext cx="12192000" cy="1441450"/>
          </a:xfrm>
          <a:prstGeom prst="rect">
            <a:avLst/>
          </a:prstGeom>
          <a:ln w="12700">
            <a:miter lim="400000"/>
          </a:ln>
        </p:spPr>
      </p:pic>
      <p:sp>
        <p:nvSpPr>
          <p:cNvPr id="24" name="Title Text"/>
          <p:cNvSpPr txBox="1"/>
          <p:nvPr>
            <p:ph type="title"/>
          </p:nvPr>
        </p:nvSpPr>
        <p:spPr>
          <a:xfrm>
            <a:off x="2895600" y="764373"/>
            <a:ext cx="8610600" cy="1293028"/>
          </a:xfrm>
          <a:prstGeom prst="rect">
            <a:avLst/>
          </a:prstGeom>
        </p:spPr>
        <p:txBody>
          <a:bodyPr/>
          <a:lstStyle/>
          <a:p>
            <a:pPr/>
            <a:r>
              <a:t>Title Text</a:t>
            </a:r>
          </a:p>
        </p:txBody>
      </p:sp>
      <p:sp>
        <p:nvSpPr>
          <p:cNvPr id="25" name="Body Level One…"/>
          <p:cNvSpPr txBox="1"/>
          <p:nvPr>
            <p:ph type="body" idx="1"/>
          </p:nvPr>
        </p:nvSpPr>
        <p:spPr>
          <a:xfrm>
            <a:off x="685800" y="2194560"/>
            <a:ext cx="10820400" cy="4024125"/>
          </a:xfrm>
          <a:prstGeom prst="rect">
            <a:avLst/>
          </a:prstGeom>
        </p:spPr>
        <p:txBody>
          <a:bodyPr/>
          <a:lstStyle>
            <a:lvl1pPr indent="-342900"/>
            <a:lvl2pPr marL="948689" indent="-377189"/>
            <a:lvl4pPr marL="1957387" indent="-471487"/>
            <a:lvl5pPr marL="2414587" indent="-471487"/>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pic>
        <p:nvPicPr>
          <p:cNvPr id="33" name="Google Shape;26;p18" descr="Google Shape;26;p18"/>
          <p:cNvPicPr>
            <a:picLocks noChangeAspect="1"/>
          </p:cNvPicPr>
          <p:nvPr/>
        </p:nvPicPr>
        <p:blipFill>
          <a:blip r:embed="rId2">
            <a:extLst/>
          </a:blip>
          <a:stretch>
            <a:fillRect/>
          </a:stretch>
        </p:blipFill>
        <p:spPr>
          <a:xfrm>
            <a:off x="0" y="4375150"/>
            <a:ext cx="12192000" cy="2482850"/>
          </a:xfrm>
          <a:prstGeom prst="rect">
            <a:avLst/>
          </a:prstGeom>
          <a:ln w="12700">
            <a:miter lim="400000"/>
          </a:ln>
        </p:spPr>
      </p:pic>
      <p:sp>
        <p:nvSpPr>
          <p:cNvPr id="34" name="Title Text"/>
          <p:cNvSpPr txBox="1"/>
          <p:nvPr>
            <p:ph type="title"/>
          </p:nvPr>
        </p:nvSpPr>
        <p:spPr>
          <a:xfrm>
            <a:off x="685800" y="753532"/>
            <a:ext cx="10820400" cy="2801936"/>
          </a:xfrm>
          <a:prstGeom prst="rect">
            <a:avLst/>
          </a:prstGeom>
        </p:spPr>
        <p:txBody>
          <a:bodyPr anchor="b"/>
          <a:lstStyle/>
          <a:p>
            <a:pPr/>
            <a:r>
              <a:t>Title Text</a:t>
            </a:r>
          </a:p>
        </p:txBody>
      </p:sp>
      <p:sp>
        <p:nvSpPr>
          <p:cNvPr id="35" name="Body Level One…"/>
          <p:cNvSpPr txBox="1"/>
          <p:nvPr>
            <p:ph type="body" sz="quarter" idx="1"/>
          </p:nvPr>
        </p:nvSpPr>
        <p:spPr>
          <a:xfrm>
            <a:off x="1024467" y="3641725"/>
            <a:ext cx="10490201" cy="955675"/>
          </a:xfrm>
          <a:prstGeom prst="rect">
            <a:avLst/>
          </a:prstGeom>
        </p:spPr>
        <p:txBody>
          <a:bodyPr/>
          <a:lstStyle>
            <a:lvl1pPr marL="228600" indent="0" algn="r">
              <a:buClrTx/>
              <a:buSzTx/>
              <a:buFontTx/>
              <a:buNone/>
            </a:lvl1pPr>
            <a:lvl2pPr marL="228600" indent="457200" algn="r">
              <a:buClrTx/>
              <a:buSzTx/>
              <a:buFontTx/>
              <a:buNone/>
            </a:lvl2pPr>
            <a:lvl3pPr marL="228600" indent="914400" algn="r">
              <a:buClrTx/>
              <a:buSzTx/>
              <a:buFontTx/>
              <a:buNone/>
            </a:lvl3pPr>
            <a:lvl4pPr marL="228600" indent="1371600" algn="r">
              <a:buClrTx/>
              <a:buSzTx/>
              <a:buFontTx/>
              <a:buNone/>
            </a:lvl4pPr>
            <a:lvl5pPr marL="228600" indent="1828800" algn="r">
              <a:buClrTx/>
              <a:buSzTx/>
              <a:buFontTx/>
              <a:buNone/>
            </a:lvl5pPr>
          </a:lstStyle>
          <a:p>
            <a:pPr/>
            <a:r>
              <a:t>Body Level One</a:t>
            </a:r>
          </a:p>
          <a:p>
            <a:pPr lvl="1"/>
            <a:r>
              <a:t>Body Level Two</a:t>
            </a:r>
          </a:p>
          <a:p>
            <a:pPr lvl="2"/>
            <a:r>
              <a:t>Body Level Three</a:t>
            </a:r>
          </a:p>
          <a:p>
            <a:pPr lvl="3"/>
            <a:r>
              <a:t>Body Level Four</a:t>
            </a:r>
          </a:p>
          <a:p>
            <a:pPr lvl="4"/>
            <a:r>
              <a:t>Body Level Five</a:t>
            </a:r>
          </a:p>
        </p:txBody>
      </p:sp>
      <p:sp>
        <p:nvSpPr>
          <p:cNvPr id="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43" name="Title Text"/>
          <p:cNvSpPr txBox="1"/>
          <p:nvPr>
            <p:ph type="title"/>
          </p:nvPr>
        </p:nvSpPr>
        <p:spPr>
          <a:xfrm>
            <a:off x="2895600" y="764373"/>
            <a:ext cx="8610600" cy="1293028"/>
          </a:xfrm>
          <a:prstGeom prst="rect">
            <a:avLst/>
          </a:prstGeom>
        </p:spPr>
        <p:txBody>
          <a:bodyPr/>
          <a:lstStyle/>
          <a:p>
            <a:pPr/>
            <a:r>
              <a:t>Title Text</a:t>
            </a:r>
          </a:p>
        </p:txBody>
      </p:sp>
      <p:sp>
        <p:nvSpPr>
          <p:cNvPr id="44" name="Body Level One…"/>
          <p:cNvSpPr txBox="1"/>
          <p:nvPr>
            <p:ph type="body" sz="half" idx="1"/>
          </p:nvPr>
        </p:nvSpPr>
        <p:spPr>
          <a:xfrm>
            <a:off x="685800" y="2194559"/>
            <a:ext cx="5334000" cy="4024125"/>
          </a:xfrm>
          <a:prstGeom prst="rect">
            <a:avLst/>
          </a:prstGeom>
        </p:spPr>
        <p:txBody>
          <a:bodyPr/>
          <a:lstStyle>
            <a:lvl1pPr indent="-342900"/>
            <a:lvl2pPr marL="948689" indent="-377189"/>
            <a:lvl4pPr marL="1957387" indent="-471487"/>
            <a:lvl5pPr marL="2414587" indent="-471487"/>
          </a:lstStyle>
          <a:p>
            <a:pPr/>
            <a:r>
              <a:t>Body Level One</a:t>
            </a:r>
          </a:p>
          <a:p>
            <a:pPr lvl="1"/>
            <a:r>
              <a:t>Body Level Two</a:t>
            </a:r>
          </a:p>
          <a:p>
            <a:pPr lvl="2"/>
            <a:r>
              <a:t>Body Level Three</a:t>
            </a:r>
          </a:p>
          <a:p>
            <a:pPr lvl="3"/>
            <a:r>
              <a:t>Body Level Four</a:t>
            </a:r>
          </a:p>
          <a:p>
            <a:pPr lvl="4"/>
            <a:r>
              <a:t>Body Level Five</a:t>
            </a:r>
          </a:p>
        </p:txBody>
      </p:sp>
      <p:sp>
        <p:nvSpPr>
          <p:cNvPr id="45" name="Google Shape;35;p19"/>
          <p:cNvSpPr txBox="1"/>
          <p:nvPr>
            <p:ph type="body" sz="half" idx="21"/>
          </p:nvPr>
        </p:nvSpPr>
        <p:spPr>
          <a:xfrm>
            <a:off x="6172200" y="2194559"/>
            <a:ext cx="5334000" cy="4024125"/>
          </a:xfrm>
          <a:prstGeom prst="rect">
            <a:avLst/>
          </a:prstGeom>
        </p:spPr>
        <p:txBody>
          <a:bodyPr/>
          <a:lstStyle/>
          <a:p>
            <a:pPr indent="-342900"/>
          </a:p>
        </p:txBody>
      </p:sp>
      <p:sp>
        <p:nvSpPr>
          <p:cNvPr id="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53" name="Title Text"/>
          <p:cNvSpPr txBox="1"/>
          <p:nvPr>
            <p:ph type="title"/>
          </p:nvPr>
        </p:nvSpPr>
        <p:spPr>
          <a:xfrm>
            <a:off x="2895600" y="762000"/>
            <a:ext cx="8610600" cy="1295400"/>
          </a:xfrm>
          <a:prstGeom prst="rect">
            <a:avLst/>
          </a:prstGeom>
        </p:spPr>
        <p:txBody>
          <a:bodyPr/>
          <a:lstStyle/>
          <a:p>
            <a:pPr/>
            <a:r>
              <a:t>Title Text</a:t>
            </a:r>
          </a:p>
        </p:txBody>
      </p:sp>
      <p:sp>
        <p:nvSpPr>
          <p:cNvPr id="54" name="Body Level One…"/>
          <p:cNvSpPr txBox="1"/>
          <p:nvPr>
            <p:ph type="body" sz="quarter" idx="1"/>
          </p:nvPr>
        </p:nvSpPr>
        <p:spPr>
          <a:xfrm>
            <a:off x="914409" y="2183801"/>
            <a:ext cx="5079992" cy="823913"/>
          </a:xfrm>
          <a:prstGeom prst="rect">
            <a:avLst/>
          </a:prstGeom>
        </p:spPr>
        <p:txBody>
          <a:bodyPr anchor="b"/>
          <a:lstStyle>
            <a:lvl1pPr marL="228600" indent="0">
              <a:buClrTx/>
              <a:buSzTx/>
              <a:buFontTx/>
              <a:buNone/>
              <a:defRPr sz="2800"/>
            </a:lvl1pPr>
            <a:lvl2pPr marL="228600" indent="457200">
              <a:buClrTx/>
              <a:buSzTx/>
              <a:buFontTx/>
              <a:buNone/>
              <a:defRPr sz="2800"/>
            </a:lvl2pPr>
            <a:lvl3pPr marL="228600" indent="914400">
              <a:buClrTx/>
              <a:buSzTx/>
              <a:buFontTx/>
              <a:buNone/>
              <a:defRPr sz="2800"/>
            </a:lvl3pPr>
            <a:lvl4pPr marL="228600" indent="1371600">
              <a:buClrTx/>
              <a:buSzTx/>
              <a:buFontTx/>
              <a:buNone/>
              <a:defRPr sz="2800"/>
            </a:lvl4pPr>
            <a:lvl5pPr marL="228600" indent="1828800">
              <a:buClrTx/>
              <a:buSzTx/>
              <a:buFontTx/>
              <a:buNone/>
              <a:defRPr sz="2800"/>
            </a:lvl5pPr>
          </a:lstStyle>
          <a:p>
            <a:pPr/>
            <a:r>
              <a:t>Body Level One</a:t>
            </a:r>
          </a:p>
          <a:p>
            <a:pPr lvl="1"/>
            <a:r>
              <a:t>Body Level Two</a:t>
            </a:r>
          </a:p>
          <a:p>
            <a:pPr lvl="2"/>
            <a:r>
              <a:t>Body Level Three</a:t>
            </a:r>
          </a:p>
          <a:p>
            <a:pPr lvl="3"/>
            <a:r>
              <a:t>Body Level Four</a:t>
            </a:r>
          </a:p>
          <a:p>
            <a:pPr lvl="4"/>
            <a:r>
              <a:t>Body Level Five</a:t>
            </a:r>
          </a:p>
        </p:txBody>
      </p:sp>
      <p:sp>
        <p:nvSpPr>
          <p:cNvPr id="55" name="Google Shape;42;p20"/>
          <p:cNvSpPr txBox="1"/>
          <p:nvPr>
            <p:ph type="body" sz="quarter" idx="21"/>
          </p:nvPr>
        </p:nvSpPr>
        <p:spPr>
          <a:xfrm>
            <a:off x="685800" y="3132665"/>
            <a:ext cx="5311775" cy="3086020"/>
          </a:xfrm>
          <a:prstGeom prst="rect">
            <a:avLst/>
          </a:prstGeom>
        </p:spPr>
        <p:txBody>
          <a:bodyPr/>
          <a:lstStyle/>
          <a:p>
            <a:pPr indent="-342900"/>
          </a:p>
        </p:txBody>
      </p:sp>
      <p:sp>
        <p:nvSpPr>
          <p:cNvPr id="56" name="Google Shape;43;p20"/>
          <p:cNvSpPr txBox="1"/>
          <p:nvPr>
            <p:ph type="body" sz="quarter" idx="22"/>
          </p:nvPr>
        </p:nvSpPr>
        <p:spPr>
          <a:xfrm>
            <a:off x="6400800" y="2183801"/>
            <a:ext cx="5105400" cy="823913"/>
          </a:xfrm>
          <a:prstGeom prst="rect">
            <a:avLst/>
          </a:prstGeom>
        </p:spPr>
        <p:txBody>
          <a:bodyPr anchor="b"/>
          <a:lstStyle/>
          <a:p>
            <a:pPr marL="228600" indent="0">
              <a:buClrTx/>
              <a:buSzTx/>
              <a:buFontTx/>
              <a:buNone/>
              <a:defRPr sz="2800"/>
            </a:pPr>
          </a:p>
        </p:txBody>
      </p:sp>
      <p:sp>
        <p:nvSpPr>
          <p:cNvPr id="57" name="Google Shape;44;p20"/>
          <p:cNvSpPr txBox="1"/>
          <p:nvPr>
            <p:ph type="body" sz="quarter" idx="23"/>
          </p:nvPr>
        </p:nvSpPr>
        <p:spPr>
          <a:xfrm>
            <a:off x="6172200" y="3132665"/>
            <a:ext cx="5334000" cy="3086020"/>
          </a:xfrm>
          <a:prstGeom prst="rect">
            <a:avLst/>
          </a:prstGeom>
        </p:spPr>
        <p:txBody>
          <a:bodyPr/>
          <a:lstStyle/>
          <a:p>
            <a:pPr indent="-342900"/>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65" name="Title Text"/>
          <p:cNvSpPr txBox="1"/>
          <p:nvPr>
            <p:ph type="title"/>
          </p:nvPr>
        </p:nvSpPr>
        <p:spPr>
          <a:xfrm>
            <a:off x="2895600" y="764373"/>
            <a:ext cx="8610600" cy="1293028"/>
          </a:xfrm>
          <a:prstGeom prst="rect">
            <a:avLst/>
          </a:prstGeom>
        </p:spPr>
        <p:txBody>
          <a:bodyPr/>
          <a:lstStyle/>
          <a:p>
            <a:pPr/>
            <a:r>
              <a:t>Title Text</a:t>
            </a:r>
          </a:p>
        </p:txBody>
      </p:sp>
      <p:sp>
        <p:nvSpPr>
          <p:cNvPr id="6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80" name="Title Text"/>
          <p:cNvSpPr txBox="1"/>
          <p:nvPr>
            <p:ph type="title"/>
          </p:nvPr>
        </p:nvSpPr>
        <p:spPr>
          <a:xfrm>
            <a:off x="685800" y="1524000"/>
            <a:ext cx="4114800" cy="1600200"/>
          </a:xfrm>
          <a:prstGeom prst="rect">
            <a:avLst/>
          </a:prstGeom>
        </p:spPr>
        <p:txBody>
          <a:bodyPr anchor="b"/>
          <a:lstStyle>
            <a:lvl1pPr algn="l">
              <a:defRPr sz="3200"/>
            </a:lvl1pPr>
          </a:lstStyle>
          <a:p>
            <a:pPr/>
            <a:r>
              <a:t>Title Text</a:t>
            </a:r>
          </a:p>
        </p:txBody>
      </p:sp>
      <p:sp>
        <p:nvSpPr>
          <p:cNvPr id="81" name="Body Level One…"/>
          <p:cNvSpPr txBox="1"/>
          <p:nvPr>
            <p:ph type="body" idx="1"/>
          </p:nvPr>
        </p:nvSpPr>
        <p:spPr>
          <a:xfrm>
            <a:off x="4995581" y="746759"/>
            <a:ext cx="6510619" cy="5471925"/>
          </a:xfrm>
          <a:prstGeom prst="rect">
            <a:avLst/>
          </a:prstGeom>
        </p:spPr>
        <p:txBody>
          <a:bodyPr anchor="ctr"/>
          <a:lstStyle>
            <a:lvl1pPr indent="-342900"/>
            <a:lvl2pPr marL="948689" indent="-377189"/>
            <a:lvl4pPr marL="1957387" indent="-471487"/>
            <a:lvl5pPr marL="2414587" indent="-471487"/>
          </a:lstStyle>
          <a:p>
            <a:pPr/>
            <a:r>
              <a:t>Body Level One</a:t>
            </a:r>
          </a:p>
          <a:p>
            <a:pPr lvl="1"/>
            <a:r>
              <a:t>Body Level Two</a:t>
            </a:r>
          </a:p>
          <a:p>
            <a:pPr lvl="2"/>
            <a:r>
              <a:t>Body Level Three</a:t>
            </a:r>
          </a:p>
          <a:p>
            <a:pPr lvl="3"/>
            <a:r>
              <a:t>Body Level Four</a:t>
            </a:r>
          </a:p>
          <a:p>
            <a:pPr lvl="4"/>
            <a:r>
              <a:t>Body Level Five</a:t>
            </a:r>
          </a:p>
        </p:txBody>
      </p:sp>
      <p:sp>
        <p:nvSpPr>
          <p:cNvPr id="82" name="Google Shape;60;p23"/>
          <p:cNvSpPr txBox="1"/>
          <p:nvPr>
            <p:ph type="body" sz="quarter" idx="21"/>
          </p:nvPr>
        </p:nvSpPr>
        <p:spPr>
          <a:xfrm>
            <a:off x="685800" y="3124199"/>
            <a:ext cx="4114800" cy="3094485"/>
          </a:xfrm>
          <a:prstGeom prst="rect">
            <a:avLst/>
          </a:prstGeom>
        </p:spPr>
        <p:txBody>
          <a:bodyPr/>
          <a:lstStyle/>
          <a:p>
            <a:pPr marL="228600" indent="0">
              <a:buClrTx/>
              <a:buSzTx/>
              <a:buFontTx/>
              <a:buNone/>
              <a:defRPr sz="1600"/>
            </a:pPr>
          </a:p>
        </p:txBody>
      </p:sp>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90" name="Title Text"/>
          <p:cNvSpPr txBox="1"/>
          <p:nvPr>
            <p:ph type="title"/>
          </p:nvPr>
        </p:nvSpPr>
        <p:spPr>
          <a:xfrm>
            <a:off x="685800" y="1524000"/>
            <a:ext cx="6873241" cy="1600200"/>
          </a:xfrm>
          <a:prstGeom prst="rect">
            <a:avLst/>
          </a:prstGeom>
        </p:spPr>
        <p:txBody>
          <a:bodyPr anchor="b"/>
          <a:lstStyle>
            <a:lvl1pPr algn="l">
              <a:defRPr sz="3200"/>
            </a:lvl1pPr>
          </a:lstStyle>
          <a:p>
            <a:pPr/>
            <a:r>
              <a:t>Title Text</a:t>
            </a:r>
          </a:p>
        </p:txBody>
      </p:sp>
      <p:sp>
        <p:nvSpPr>
          <p:cNvPr id="91" name="Google Shape;66;p24"/>
          <p:cNvSpPr/>
          <p:nvPr>
            <p:ph type="pic" sz="half" idx="21"/>
          </p:nvPr>
        </p:nvSpPr>
        <p:spPr>
          <a:xfrm>
            <a:off x="7861237" y="751241"/>
            <a:ext cx="3644963" cy="5467444"/>
          </a:xfrm>
          <a:prstGeom prst="rect">
            <a:avLst/>
          </a:prstGeom>
        </p:spPr>
        <p:txBody>
          <a:bodyPr lIns="91439" tIns="45719" rIns="91439" bIns="45719">
            <a:noAutofit/>
          </a:bodyPr>
          <a:lstStyle/>
          <a:p>
            <a:pPr/>
          </a:p>
        </p:txBody>
      </p:sp>
      <p:sp>
        <p:nvSpPr>
          <p:cNvPr id="92" name="Body Level One…"/>
          <p:cNvSpPr txBox="1"/>
          <p:nvPr>
            <p:ph type="body" sz="half" idx="1"/>
          </p:nvPr>
        </p:nvSpPr>
        <p:spPr>
          <a:xfrm>
            <a:off x="685800" y="3124199"/>
            <a:ext cx="6873241" cy="3094485"/>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anoramic Picture with Caption">
    <p:spTree>
      <p:nvGrpSpPr>
        <p:cNvPr id="1" name=""/>
        <p:cNvGrpSpPr/>
        <p:nvPr/>
      </p:nvGrpSpPr>
      <p:grpSpPr>
        <a:xfrm>
          <a:off x="0" y="0"/>
          <a:ext cx="0" cy="0"/>
          <a:chOff x="0" y="0"/>
          <a:chExt cx="0" cy="0"/>
        </a:xfrm>
      </p:grpSpPr>
      <p:sp>
        <p:nvSpPr>
          <p:cNvPr id="100" name="Title Text"/>
          <p:cNvSpPr txBox="1"/>
          <p:nvPr>
            <p:ph type="title"/>
          </p:nvPr>
        </p:nvSpPr>
        <p:spPr>
          <a:xfrm>
            <a:off x="685776" y="4697360"/>
            <a:ext cx="10822035" cy="819356"/>
          </a:xfrm>
          <a:prstGeom prst="rect">
            <a:avLst/>
          </a:prstGeom>
        </p:spPr>
        <p:txBody>
          <a:bodyPr anchor="b"/>
          <a:lstStyle>
            <a:lvl1pPr algn="l">
              <a:defRPr sz="3200"/>
            </a:lvl1pPr>
          </a:lstStyle>
          <a:p>
            <a:pPr/>
            <a:r>
              <a:t>Title Text</a:t>
            </a:r>
          </a:p>
        </p:txBody>
      </p:sp>
      <p:sp>
        <p:nvSpPr>
          <p:cNvPr id="101" name="Google Shape;73;p25"/>
          <p:cNvSpPr/>
          <p:nvPr>
            <p:ph type="pic" idx="21"/>
          </p:nvPr>
        </p:nvSpPr>
        <p:spPr>
          <a:xfrm>
            <a:off x="681726" y="941439"/>
            <a:ext cx="10821842" cy="3478161"/>
          </a:xfrm>
          <a:prstGeom prst="rect">
            <a:avLst/>
          </a:prstGeom>
        </p:spPr>
        <p:txBody>
          <a:bodyPr lIns="91439" tIns="45719" rIns="91439" bIns="45719">
            <a:noAutofit/>
          </a:bodyPr>
          <a:lstStyle/>
          <a:p>
            <a:pPr/>
          </a:p>
        </p:txBody>
      </p:sp>
      <p:sp>
        <p:nvSpPr>
          <p:cNvPr id="102" name="Body Level One…"/>
          <p:cNvSpPr txBox="1"/>
          <p:nvPr>
            <p:ph type="body" sz="quarter" idx="1"/>
          </p:nvPr>
        </p:nvSpPr>
        <p:spPr>
          <a:xfrm>
            <a:off x="685800" y="5516714"/>
            <a:ext cx="10820400" cy="701970"/>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aption">
    <p:spTree>
      <p:nvGrpSpPr>
        <p:cNvPr id="1" name=""/>
        <p:cNvGrpSpPr/>
        <p:nvPr/>
      </p:nvGrpSpPr>
      <p:grpSpPr>
        <a:xfrm>
          <a:off x="0" y="0"/>
          <a:ext cx="0" cy="0"/>
          <a:chOff x="0" y="0"/>
          <a:chExt cx="0" cy="0"/>
        </a:xfrm>
      </p:grpSpPr>
      <p:pic>
        <p:nvPicPr>
          <p:cNvPr id="110" name="Google Shape;79;p26" descr="Google Shape;79;p26"/>
          <p:cNvPicPr>
            <a:picLocks noChangeAspect="1"/>
          </p:cNvPicPr>
          <p:nvPr/>
        </p:nvPicPr>
        <p:blipFill>
          <a:blip r:embed="rId2">
            <a:extLst/>
          </a:blip>
          <a:stretch>
            <a:fillRect/>
          </a:stretch>
        </p:blipFill>
        <p:spPr>
          <a:xfrm>
            <a:off x="0" y="4375150"/>
            <a:ext cx="12192000" cy="2482850"/>
          </a:xfrm>
          <a:prstGeom prst="rect">
            <a:avLst/>
          </a:prstGeom>
          <a:ln w="12700">
            <a:miter lim="400000"/>
          </a:ln>
        </p:spPr>
      </p:pic>
      <p:sp>
        <p:nvSpPr>
          <p:cNvPr id="111" name="Title Text"/>
          <p:cNvSpPr txBox="1"/>
          <p:nvPr>
            <p:ph type="title"/>
          </p:nvPr>
        </p:nvSpPr>
        <p:spPr>
          <a:xfrm>
            <a:off x="685800" y="753532"/>
            <a:ext cx="10820400" cy="2802467"/>
          </a:xfrm>
          <a:prstGeom prst="rect">
            <a:avLst/>
          </a:prstGeom>
        </p:spPr>
        <p:txBody>
          <a:bodyPr/>
          <a:lstStyle>
            <a:lvl1pPr algn="l">
              <a:defRPr sz="3200"/>
            </a:lvl1pPr>
          </a:lstStyle>
          <a:p>
            <a:pPr/>
            <a:r>
              <a:t>Title Text</a:t>
            </a:r>
          </a:p>
        </p:txBody>
      </p:sp>
      <p:sp>
        <p:nvSpPr>
          <p:cNvPr id="112" name="Body Level One…"/>
          <p:cNvSpPr txBox="1"/>
          <p:nvPr>
            <p:ph type="body" sz="quarter" idx="1"/>
          </p:nvPr>
        </p:nvSpPr>
        <p:spPr>
          <a:xfrm>
            <a:off x="1024467" y="3649133"/>
            <a:ext cx="10130516" cy="999068"/>
          </a:xfrm>
          <a:prstGeom prst="rect">
            <a:avLst/>
          </a:prstGeom>
        </p:spPr>
        <p:txBody>
          <a:bodyPr anchor="ct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with Caption">
    <p:spTree>
      <p:nvGrpSpPr>
        <p:cNvPr id="1" name=""/>
        <p:cNvGrpSpPr/>
        <p:nvPr/>
      </p:nvGrpSpPr>
      <p:grpSpPr>
        <a:xfrm>
          <a:off x="0" y="0"/>
          <a:ext cx="0" cy="0"/>
          <a:chOff x="0" y="0"/>
          <a:chExt cx="0" cy="0"/>
        </a:xfrm>
      </p:grpSpPr>
      <p:pic>
        <p:nvPicPr>
          <p:cNvPr id="120" name="Google Shape;86;p27" descr="Google Shape;86;p27"/>
          <p:cNvPicPr>
            <a:picLocks noChangeAspect="1"/>
          </p:cNvPicPr>
          <p:nvPr/>
        </p:nvPicPr>
        <p:blipFill>
          <a:blip r:embed="rId2">
            <a:extLst/>
          </a:blip>
          <a:stretch>
            <a:fillRect/>
          </a:stretch>
        </p:blipFill>
        <p:spPr>
          <a:xfrm>
            <a:off x="0" y="4375150"/>
            <a:ext cx="12192000" cy="2482850"/>
          </a:xfrm>
          <a:prstGeom prst="rect">
            <a:avLst/>
          </a:prstGeom>
          <a:ln w="12700">
            <a:miter lim="400000"/>
          </a:ln>
        </p:spPr>
      </p:pic>
      <p:sp>
        <p:nvSpPr>
          <p:cNvPr id="121" name="Title Text"/>
          <p:cNvSpPr txBox="1"/>
          <p:nvPr>
            <p:ph type="title"/>
          </p:nvPr>
        </p:nvSpPr>
        <p:spPr>
          <a:xfrm>
            <a:off x="1024467" y="753532"/>
            <a:ext cx="10151534" cy="2604497"/>
          </a:xfrm>
          <a:prstGeom prst="rect">
            <a:avLst/>
          </a:prstGeom>
        </p:spPr>
        <p:txBody>
          <a:bodyPr/>
          <a:lstStyle>
            <a:lvl1pPr algn="l">
              <a:defRPr sz="3200"/>
            </a:lvl1pPr>
          </a:lstStyle>
          <a:p>
            <a:pPr/>
            <a:r>
              <a:t>Title Text</a:t>
            </a:r>
          </a:p>
        </p:txBody>
      </p:sp>
      <p:sp>
        <p:nvSpPr>
          <p:cNvPr id="122" name="Body Level One…"/>
          <p:cNvSpPr txBox="1"/>
          <p:nvPr>
            <p:ph type="body" sz="quarter" idx="1"/>
          </p:nvPr>
        </p:nvSpPr>
        <p:spPr>
          <a:xfrm>
            <a:off x="1303864" y="3365555"/>
            <a:ext cx="9592738" cy="444444"/>
          </a:xfrm>
          <a:prstGeom prst="rect">
            <a:avLst/>
          </a:prstGeom>
        </p:spPr>
        <p:txBody>
          <a:bodyPr/>
          <a:lstStyle>
            <a:lvl1pPr marL="228600" indent="0">
              <a:buClrTx/>
              <a:buSzTx/>
              <a:buFontTx/>
              <a:buNone/>
              <a:defRPr sz="1400"/>
            </a:lvl1pPr>
            <a:lvl2pPr marL="228600" indent="457200">
              <a:buClrTx/>
              <a:buSzTx/>
              <a:buFontTx/>
              <a:buNone/>
              <a:defRPr sz="1400"/>
            </a:lvl2pPr>
            <a:lvl3pPr marL="228600" indent="914400">
              <a:buClrTx/>
              <a:buSzTx/>
              <a:buFontTx/>
              <a:buNone/>
              <a:defRPr sz="1400"/>
            </a:lvl3pPr>
            <a:lvl4pPr marL="228600" indent="1371600">
              <a:buClrTx/>
              <a:buSzTx/>
              <a:buFontTx/>
              <a:buNone/>
              <a:defRPr sz="1400"/>
            </a:lvl4pPr>
            <a:lvl5pPr marL="228600" indent="1828800">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23" name="Google Shape;89;p27"/>
          <p:cNvSpPr txBox="1"/>
          <p:nvPr>
            <p:ph type="body" sz="quarter" idx="21"/>
          </p:nvPr>
        </p:nvSpPr>
        <p:spPr>
          <a:xfrm>
            <a:off x="1024467" y="3959862"/>
            <a:ext cx="10151534" cy="679872"/>
          </a:xfrm>
          <a:prstGeom prst="rect">
            <a:avLst/>
          </a:prstGeom>
        </p:spPr>
        <p:txBody>
          <a:bodyPr anchor="ctr"/>
          <a:lstStyle/>
          <a:p>
            <a:pPr marL="228600" indent="0">
              <a:buClrTx/>
              <a:buSzTx/>
              <a:buFontTx/>
              <a:buNone/>
              <a:defRPr sz="1600"/>
            </a:pPr>
          </a:p>
        </p:txBody>
      </p:sp>
      <p:sp>
        <p:nvSpPr>
          <p:cNvPr id="124" name="Google Shape;93;p27"/>
          <p:cNvSpPr txBox="1"/>
          <p:nvPr/>
        </p:nvSpPr>
        <p:spPr>
          <a:xfrm>
            <a:off x="521975" y="557837"/>
            <a:ext cx="518151" cy="1336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8000">
                <a:solidFill>
                  <a:srgbClr val="FFFFFF"/>
                </a:solidFill>
                <a:latin typeface="Century Gothic"/>
                <a:ea typeface="Century Gothic"/>
                <a:cs typeface="Century Gothic"/>
                <a:sym typeface="Century Gothic"/>
              </a:defRPr>
            </a:lvl1pPr>
          </a:lstStyle>
          <a:p>
            <a:pPr/>
            <a:r>
              <a:t>“</a:t>
            </a:r>
          </a:p>
        </p:txBody>
      </p:sp>
      <p:sp>
        <p:nvSpPr>
          <p:cNvPr id="125" name="Google Shape;94;p27"/>
          <p:cNvSpPr txBox="1"/>
          <p:nvPr/>
        </p:nvSpPr>
        <p:spPr>
          <a:xfrm>
            <a:off x="11029955" y="2325677"/>
            <a:ext cx="518151" cy="1336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8000">
                <a:solidFill>
                  <a:srgbClr val="FFFFFF"/>
                </a:solidFill>
                <a:latin typeface="Century Gothic"/>
                <a:ea typeface="Century Gothic"/>
                <a:cs typeface="Century Gothic"/>
                <a:sym typeface="Century Gothic"/>
              </a:defRPr>
            </a:lvl1pPr>
          </a:lstStyle>
          <a:p>
            <a:pPr/>
            <a:r>
              <a:t>”</a:t>
            </a:r>
          </a:p>
        </p:txBody>
      </p:sp>
      <p:sp>
        <p:nvSpPr>
          <p:cNvPr id="1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Name Card">
    <p:spTree>
      <p:nvGrpSpPr>
        <p:cNvPr id="1" name=""/>
        <p:cNvGrpSpPr/>
        <p:nvPr/>
      </p:nvGrpSpPr>
      <p:grpSpPr>
        <a:xfrm>
          <a:off x="0" y="0"/>
          <a:ext cx="0" cy="0"/>
          <a:chOff x="0" y="0"/>
          <a:chExt cx="0" cy="0"/>
        </a:xfrm>
      </p:grpSpPr>
      <p:pic>
        <p:nvPicPr>
          <p:cNvPr id="133" name="Google Shape;96;p28" descr="Google Shape;96;p28"/>
          <p:cNvPicPr>
            <a:picLocks noChangeAspect="1"/>
          </p:cNvPicPr>
          <p:nvPr/>
        </p:nvPicPr>
        <p:blipFill>
          <a:blip r:embed="rId2">
            <a:extLst/>
          </a:blip>
          <a:stretch>
            <a:fillRect/>
          </a:stretch>
        </p:blipFill>
        <p:spPr>
          <a:xfrm>
            <a:off x="0" y="4375150"/>
            <a:ext cx="12192000" cy="2482850"/>
          </a:xfrm>
          <a:prstGeom prst="rect">
            <a:avLst/>
          </a:prstGeom>
          <a:ln w="12700">
            <a:miter lim="400000"/>
          </a:ln>
        </p:spPr>
      </p:pic>
      <p:sp>
        <p:nvSpPr>
          <p:cNvPr id="134" name="Title Text"/>
          <p:cNvSpPr txBox="1"/>
          <p:nvPr>
            <p:ph type="title"/>
          </p:nvPr>
        </p:nvSpPr>
        <p:spPr>
          <a:xfrm>
            <a:off x="1024495" y="1124701"/>
            <a:ext cx="10146187" cy="2511836"/>
          </a:xfrm>
          <a:prstGeom prst="rect">
            <a:avLst/>
          </a:prstGeom>
        </p:spPr>
        <p:txBody>
          <a:bodyPr anchor="b"/>
          <a:lstStyle>
            <a:lvl1pPr algn="l">
              <a:defRPr sz="3200"/>
            </a:lvl1pPr>
          </a:lstStyle>
          <a:p>
            <a:pPr/>
            <a:r>
              <a:t>Title Text</a:t>
            </a:r>
          </a:p>
        </p:txBody>
      </p:sp>
      <p:sp>
        <p:nvSpPr>
          <p:cNvPr id="135" name="Body Level One…"/>
          <p:cNvSpPr txBox="1"/>
          <p:nvPr>
            <p:ph type="body" sz="quarter" idx="1"/>
          </p:nvPr>
        </p:nvSpPr>
        <p:spPr>
          <a:xfrm>
            <a:off x="1024467" y="3648314"/>
            <a:ext cx="10144654" cy="999886"/>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1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 Column">
    <p:spTree>
      <p:nvGrpSpPr>
        <p:cNvPr id="1" name=""/>
        <p:cNvGrpSpPr/>
        <p:nvPr/>
      </p:nvGrpSpPr>
      <p:grpSpPr>
        <a:xfrm>
          <a:off x="0" y="0"/>
          <a:ext cx="0" cy="0"/>
          <a:chOff x="0" y="0"/>
          <a:chExt cx="0" cy="0"/>
        </a:xfrm>
      </p:grpSpPr>
      <p:sp>
        <p:nvSpPr>
          <p:cNvPr id="143" name="Title Text"/>
          <p:cNvSpPr txBox="1"/>
          <p:nvPr>
            <p:ph type="title"/>
          </p:nvPr>
        </p:nvSpPr>
        <p:spPr>
          <a:xfrm>
            <a:off x="2895600" y="761998"/>
            <a:ext cx="8610600" cy="1303869"/>
          </a:xfrm>
          <a:prstGeom prst="rect">
            <a:avLst/>
          </a:prstGeom>
        </p:spPr>
        <p:txBody>
          <a:bodyPr/>
          <a:lstStyle/>
          <a:p>
            <a:pPr/>
            <a:r>
              <a:t>Title Text</a:t>
            </a:r>
          </a:p>
        </p:txBody>
      </p:sp>
      <p:sp>
        <p:nvSpPr>
          <p:cNvPr id="144" name="Body Level One…"/>
          <p:cNvSpPr txBox="1"/>
          <p:nvPr>
            <p:ph type="body" sz="quarter" idx="1"/>
          </p:nvPr>
        </p:nvSpPr>
        <p:spPr>
          <a:xfrm>
            <a:off x="685800" y="2202079"/>
            <a:ext cx="3456433" cy="617321"/>
          </a:xfrm>
          <a:prstGeom prst="rect">
            <a:avLst/>
          </a:prstGeom>
        </p:spPr>
        <p:txBody>
          <a:bodyPr anchor="b"/>
          <a:lstStyle>
            <a:lvl1pPr marL="228600" indent="0">
              <a:buClrTx/>
              <a:buSzTx/>
              <a:buFontTx/>
              <a:buNone/>
              <a:defRPr sz="2400"/>
            </a:lvl1pPr>
            <a:lvl2pPr marL="228600" indent="457200">
              <a:buClrTx/>
              <a:buSzTx/>
              <a:buFontTx/>
              <a:buNone/>
              <a:defRPr sz="2400"/>
            </a:lvl2pPr>
            <a:lvl3pPr marL="228600" indent="914400">
              <a:buClrTx/>
              <a:buSzTx/>
              <a:buFontTx/>
              <a:buNone/>
              <a:defRPr sz="2400"/>
            </a:lvl3pPr>
            <a:lvl4pPr marL="228600" indent="1371600">
              <a:buClrTx/>
              <a:buSzTx/>
              <a:buFontTx/>
              <a:buNone/>
              <a:defRPr sz="2400"/>
            </a:lvl4pPr>
            <a:lvl5pPr marL="228600" indent="1828800">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45" name="Google Shape;105;p29"/>
          <p:cNvSpPr txBox="1"/>
          <p:nvPr>
            <p:ph type="body" sz="quarter" idx="21"/>
          </p:nvPr>
        </p:nvSpPr>
        <p:spPr>
          <a:xfrm>
            <a:off x="685798" y="2904564"/>
            <a:ext cx="3456434" cy="3314132"/>
          </a:xfrm>
          <a:prstGeom prst="rect">
            <a:avLst/>
          </a:prstGeom>
        </p:spPr>
        <p:txBody>
          <a:bodyPr/>
          <a:lstStyle/>
          <a:p>
            <a:pPr marL="228600" indent="0">
              <a:buClrTx/>
              <a:buSzTx/>
              <a:buFontTx/>
              <a:buNone/>
              <a:defRPr sz="1400"/>
            </a:pPr>
          </a:p>
        </p:txBody>
      </p:sp>
      <p:sp>
        <p:nvSpPr>
          <p:cNvPr id="146" name="Google Shape;106;p29"/>
          <p:cNvSpPr txBox="1"/>
          <p:nvPr>
            <p:ph type="body" sz="quarter" idx="22"/>
          </p:nvPr>
        </p:nvSpPr>
        <p:spPr>
          <a:xfrm>
            <a:off x="4368800" y="2201333"/>
            <a:ext cx="3456433" cy="626535"/>
          </a:xfrm>
          <a:prstGeom prst="rect">
            <a:avLst/>
          </a:prstGeom>
        </p:spPr>
        <p:txBody>
          <a:bodyPr anchor="b"/>
          <a:lstStyle/>
          <a:p>
            <a:pPr marL="228600" indent="0">
              <a:buClrTx/>
              <a:buSzTx/>
              <a:buFontTx/>
              <a:buNone/>
              <a:defRPr sz="2400"/>
            </a:pPr>
          </a:p>
        </p:txBody>
      </p:sp>
      <p:sp>
        <p:nvSpPr>
          <p:cNvPr id="147" name="Google Shape;107;p29"/>
          <p:cNvSpPr txBox="1"/>
          <p:nvPr>
            <p:ph type="body" sz="quarter" idx="23"/>
          </p:nvPr>
        </p:nvSpPr>
        <p:spPr>
          <a:xfrm>
            <a:off x="4366857" y="2904066"/>
            <a:ext cx="3456433" cy="3314618"/>
          </a:xfrm>
          <a:prstGeom prst="rect">
            <a:avLst/>
          </a:prstGeom>
        </p:spPr>
        <p:txBody>
          <a:bodyPr/>
          <a:lstStyle/>
          <a:p>
            <a:pPr marL="228600" indent="0">
              <a:buClrTx/>
              <a:buSzTx/>
              <a:buFontTx/>
              <a:buNone/>
              <a:defRPr sz="1400"/>
            </a:pPr>
          </a:p>
        </p:txBody>
      </p:sp>
      <p:sp>
        <p:nvSpPr>
          <p:cNvPr id="148" name="Google Shape;108;p29"/>
          <p:cNvSpPr txBox="1"/>
          <p:nvPr>
            <p:ph type="body" sz="quarter" idx="24"/>
          </p:nvPr>
        </p:nvSpPr>
        <p:spPr>
          <a:xfrm>
            <a:off x="8051800" y="2192865"/>
            <a:ext cx="3456433" cy="626535"/>
          </a:xfrm>
          <a:prstGeom prst="rect">
            <a:avLst/>
          </a:prstGeom>
        </p:spPr>
        <p:txBody>
          <a:bodyPr anchor="b"/>
          <a:lstStyle/>
          <a:p>
            <a:pPr marL="228600" indent="0">
              <a:buClrTx/>
              <a:buSzTx/>
              <a:buFontTx/>
              <a:buNone/>
              <a:defRPr sz="2400"/>
            </a:pPr>
          </a:p>
        </p:txBody>
      </p:sp>
      <p:sp>
        <p:nvSpPr>
          <p:cNvPr id="149" name="Google Shape;109;p29"/>
          <p:cNvSpPr txBox="1"/>
          <p:nvPr>
            <p:ph type="body" sz="quarter" idx="25"/>
          </p:nvPr>
        </p:nvSpPr>
        <p:spPr>
          <a:xfrm>
            <a:off x="8051800" y="2904564"/>
            <a:ext cx="3456433" cy="3314132"/>
          </a:xfrm>
          <a:prstGeom prst="rect">
            <a:avLst/>
          </a:prstGeom>
        </p:spPr>
        <p:txBody>
          <a:bodyPr/>
          <a:lstStyle/>
          <a:p>
            <a:pPr marL="228600" indent="0">
              <a:buClrTx/>
              <a:buSzTx/>
              <a:buFontTx/>
              <a:buNone/>
              <a:defRPr sz="1400"/>
            </a:pPr>
          </a:p>
        </p:txBody>
      </p:sp>
      <p:sp>
        <p:nvSpPr>
          <p:cNvPr id="1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 Picture Column">
    <p:spTree>
      <p:nvGrpSpPr>
        <p:cNvPr id="1" name=""/>
        <p:cNvGrpSpPr/>
        <p:nvPr/>
      </p:nvGrpSpPr>
      <p:grpSpPr>
        <a:xfrm>
          <a:off x="0" y="0"/>
          <a:ext cx="0" cy="0"/>
          <a:chOff x="0" y="0"/>
          <a:chExt cx="0" cy="0"/>
        </a:xfrm>
      </p:grpSpPr>
      <p:sp>
        <p:nvSpPr>
          <p:cNvPr id="157" name="Title Text"/>
          <p:cNvSpPr txBox="1"/>
          <p:nvPr>
            <p:ph type="title"/>
          </p:nvPr>
        </p:nvSpPr>
        <p:spPr>
          <a:xfrm>
            <a:off x="2895600" y="762000"/>
            <a:ext cx="8610600" cy="1295400"/>
          </a:xfrm>
          <a:prstGeom prst="rect">
            <a:avLst/>
          </a:prstGeom>
        </p:spPr>
        <p:txBody>
          <a:bodyPr/>
          <a:lstStyle/>
          <a:p>
            <a:pPr/>
            <a:r>
              <a:t>Title Text</a:t>
            </a:r>
          </a:p>
        </p:txBody>
      </p:sp>
      <p:sp>
        <p:nvSpPr>
          <p:cNvPr id="158" name="Body Level One…"/>
          <p:cNvSpPr txBox="1"/>
          <p:nvPr>
            <p:ph type="body" sz="quarter" idx="1"/>
          </p:nvPr>
        </p:nvSpPr>
        <p:spPr>
          <a:xfrm>
            <a:off x="688617" y="4191000"/>
            <a:ext cx="3451583" cy="682766"/>
          </a:xfrm>
          <a:prstGeom prst="rect">
            <a:avLst/>
          </a:prstGeom>
        </p:spPr>
        <p:txBody>
          <a:bodyPr anchor="b"/>
          <a:lstStyle>
            <a:lvl1pPr marL="228600" indent="0">
              <a:buClrTx/>
              <a:buSzTx/>
              <a:buFontTx/>
              <a:buNone/>
              <a:defRPr sz="2400"/>
            </a:lvl1pPr>
            <a:lvl2pPr marL="228600" indent="457200">
              <a:buClrTx/>
              <a:buSzTx/>
              <a:buFontTx/>
              <a:buNone/>
              <a:defRPr sz="2400"/>
            </a:lvl2pPr>
            <a:lvl3pPr marL="228600" indent="914400">
              <a:buClrTx/>
              <a:buSzTx/>
              <a:buFontTx/>
              <a:buNone/>
              <a:defRPr sz="2400"/>
            </a:lvl3pPr>
            <a:lvl4pPr marL="228600" indent="1371600">
              <a:buClrTx/>
              <a:buSzTx/>
              <a:buFontTx/>
              <a:buNone/>
              <a:defRPr sz="2400"/>
            </a:lvl4pPr>
            <a:lvl5pPr marL="228600" indent="1828800">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59" name="Google Shape;116;p30"/>
          <p:cNvSpPr/>
          <p:nvPr>
            <p:ph type="pic" sz="quarter" idx="21"/>
          </p:nvPr>
        </p:nvSpPr>
        <p:spPr>
          <a:xfrm>
            <a:off x="688617" y="2362200"/>
            <a:ext cx="3451583" cy="1524000"/>
          </a:xfrm>
          <a:prstGeom prst="rect">
            <a:avLst/>
          </a:prstGeom>
          <a:effectLst>
            <a:outerShdw sx="100000" sy="100000" kx="0" ky="0" algn="b" rotWithShape="0" blurRad="50800" dist="50800" dir="5400000">
              <a:srgbClr val="000000">
                <a:alpha val="41960"/>
              </a:srgbClr>
            </a:outerShdw>
          </a:effectLst>
        </p:spPr>
        <p:txBody>
          <a:bodyPr lIns="91439" tIns="45719" rIns="91439" bIns="45719">
            <a:noAutofit/>
          </a:bodyPr>
          <a:lstStyle/>
          <a:p>
            <a:pPr/>
          </a:p>
        </p:txBody>
      </p:sp>
      <p:sp>
        <p:nvSpPr>
          <p:cNvPr id="160" name="Google Shape;117;p30"/>
          <p:cNvSpPr txBox="1"/>
          <p:nvPr>
            <p:ph type="body" sz="quarter" idx="22"/>
          </p:nvPr>
        </p:nvSpPr>
        <p:spPr>
          <a:xfrm>
            <a:off x="688617" y="4873764"/>
            <a:ext cx="3451583" cy="1344922"/>
          </a:xfrm>
          <a:prstGeom prst="rect">
            <a:avLst/>
          </a:prstGeom>
        </p:spPr>
        <p:txBody>
          <a:bodyPr/>
          <a:lstStyle/>
          <a:p>
            <a:pPr marL="228600" indent="0">
              <a:buClrTx/>
              <a:buSzTx/>
              <a:buFontTx/>
              <a:buNone/>
              <a:defRPr sz="1400"/>
            </a:pPr>
          </a:p>
        </p:txBody>
      </p:sp>
      <p:sp>
        <p:nvSpPr>
          <p:cNvPr id="161" name="Google Shape;118;p30"/>
          <p:cNvSpPr txBox="1"/>
          <p:nvPr>
            <p:ph type="body" sz="quarter" idx="23"/>
          </p:nvPr>
        </p:nvSpPr>
        <p:spPr>
          <a:xfrm>
            <a:off x="4374262" y="4191000"/>
            <a:ext cx="3448935" cy="682766"/>
          </a:xfrm>
          <a:prstGeom prst="rect">
            <a:avLst/>
          </a:prstGeom>
        </p:spPr>
        <p:txBody>
          <a:bodyPr anchor="b"/>
          <a:lstStyle/>
          <a:p>
            <a:pPr marL="228600" indent="0">
              <a:buClrTx/>
              <a:buSzTx/>
              <a:buFontTx/>
              <a:buNone/>
              <a:defRPr sz="2400"/>
            </a:pPr>
          </a:p>
        </p:txBody>
      </p:sp>
      <p:sp>
        <p:nvSpPr>
          <p:cNvPr id="162" name="Google Shape;119;p30"/>
          <p:cNvSpPr/>
          <p:nvPr>
            <p:ph type="pic" sz="quarter" idx="24"/>
          </p:nvPr>
        </p:nvSpPr>
        <p:spPr>
          <a:xfrm>
            <a:off x="4374262" y="2362200"/>
            <a:ext cx="3448937" cy="1524000"/>
          </a:xfrm>
          <a:prstGeom prst="rect">
            <a:avLst/>
          </a:prstGeom>
          <a:effectLst>
            <a:outerShdw sx="100000" sy="100000" kx="0" ky="0" algn="b" rotWithShape="0" blurRad="50800" dist="50800" dir="5400000">
              <a:srgbClr val="000000">
                <a:alpha val="41960"/>
              </a:srgbClr>
            </a:outerShdw>
          </a:effectLst>
        </p:spPr>
        <p:txBody>
          <a:bodyPr lIns="91439" tIns="45719" rIns="91439" bIns="45719">
            <a:noAutofit/>
          </a:bodyPr>
          <a:lstStyle/>
          <a:p>
            <a:pPr/>
          </a:p>
        </p:txBody>
      </p:sp>
      <p:sp>
        <p:nvSpPr>
          <p:cNvPr id="163" name="Google Shape;120;p30"/>
          <p:cNvSpPr txBox="1"/>
          <p:nvPr>
            <p:ph type="body" sz="quarter" idx="25"/>
          </p:nvPr>
        </p:nvSpPr>
        <p:spPr>
          <a:xfrm>
            <a:off x="4374264" y="4873762"/>
            <a:ext cx="3448935" cy="1344922"/>
          </a:xfrm>
          <a:prstGeom prst="rect">
            <a:avLst/>
          </a:prstGeom>
        </p:spPr>
        <p:txBody>
          <a:bodyPr/>
          <a:lstStyle/>
          <a:p>
            <a:pPr marL="228600" indent="0">
              <a:buClrTx/>
              <a:buSzTx/>
              <a:buFontTx/>
              <a:buNone/>
              <a:defRPr sz="1400"/>
            </a:pPr>
          </a:p>
        </p:txBody>
      </p:sp>
      <p:sp>
        <p:nvSpPr>
          <p:cNvPr id="164" name="Google Shape;121;p30"/>
          <p:cNvSpPr txBox="1"/>
          <p:nvPr>
            <p:ph type="body" sz="quarter" idx="26"/>
          </p:nvPr>
        </p:nvSpPr>
        <p:spPr>
          <a:xfrm>
            <a:off x="8049731" y="4191000"/>
            <a:ext cx="3456469" cy="682766"/>
          </a:xfrm>
          <a:prstGeom prst="rect">
            <a:avLst/>
          </a:prstGeom>
        </p:spPr>
        <p:txBody>
          <a:bodyPr anchor="b"/>
          <a:lstStyle/>
          <a:p>
            <a:pPr marL="228600" indent="0">
              <a:buClrTx/>
              <a:buSzTx/>
              <a:buFontTx/>
              <a:buNone/>
              <a:defRPr sz="2400"/>
            </a:pPr>
          </a:p>
        </p:txBody>
      </p:sp>
      <p:sp>
        <p:nvSpPr>
          <p:cNvPr id="165" name="Google Shape;122;p30"/>
          <p:cNvSpPr/>
          <p:nvPr>
            <p:ph type="pic" sz="quarter" idx="27"/>
          </p:nvPr>
        </p:nvSpPr>
        <p:spPr>
          <a:xfrm>
            <a:off x="8049855" y="2362200"/>
            <a:ext cx="3447879" cy="1524000"/>
          </a:xfrm>
          <a:prstGeom prst="rect">
            <a:avLst/>
          </a:prstGeom>
          <a:effectLst>
            <a:outerShdw sx="100000" sy="100000" kx="0" ky="0" algn="b" rotWithShape="0" blurRad="50800" dist="50800" dir="5400000">
              <a:srgbClr val="000000">
                <a:alpha val="41960"/>
              </a:srgbClr>
            </a:outerShdw>
          </a:effectLst>
        </p:spPr>
        <p:txBody>
          <a:bodyPr lIns="91439" tIns="45719" rIns="91439" bIns="45719">
            <a:noAutofit/>
          </a:bodyPr>
          <a:lstStyle/>
          <a:p>
            <a:pPr/>
          </a:p>
        </p:txBody>
      </p:sp>
      <p:sp>
        <p:nvSpPr>
          <p:cNvPr id="166" name="Google Shape;123;p30"/>
          <p:cNvSpPr txBox="1"/>
          <p:nvPr>
            <p:ph type="body" sz="quarter" idx="28"/>
          </p:nvPr>
        </p:nvSpPr>
        <p:spPr>
          <a:xfrm>
            <a:off x="8049731" y="4873761"/>
            <a:ext cx="3452446" cy="1344922"/>
          </a:xfrm>
          <a:prstGeom prst="rect">
            <a:avLst/>
          </a:prstGeom>
        </p:spPr>
        <p:txBody>
          <a:bodyPr/>
          <a:lstStyle/>
          <a:p>
            <a:pPr marL="228600" indent="0">
              <a:buClrTx/>
              <a:buSzTx/>
              <a:buFontTx/>
              <a:buNone/>
              <a:defRPr sz="1400"/>
            </a:pPr>
          </a:p>
        </p:txBody>
      </p:sp>
      <p:sp>
        <p:nvSpPr>
          <p:cNvPr id="1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174" name="Title Text"/>
          <p:cNvSpPr txBox="1"/>
          <p:nvPr>
            <p:ph type="title"/>
          </p:nvPr>
        </p:nvSpPr>
        <p:spPr>
          <a:xfrm>
            <a:off x="2895600" y="764373"/>
            <a:ext cx="8610600" cy="1293028"/>
          </a:xfrm>
          <a:prstGeom prst="rect">
            <a:avLst/>
          </a:prstGeom>
        </p:spPr>
        <p:txBody>
          <a:bodyPr/>
          <a:lstStyle/>
          <a:p>
            <a:pPr/>
            <a:r>
              <a:t>Title Text</a:t>
            </a:r>
          </a:p>
        </p:txBody>
      </p:sp>
      <p:sp>
        <p:nvSpPr>
          <p:cNvPr id="175" name="Body Level One…"/>
          <p:cNvSpPr txBox="1"/>
          <p:nvPr>
            <p:ph type="body" idx="1"/>
          </p:nvPr>
        </p:nvSpPr>
        <p:spPr>
          <a:xfrm rot="5400000">
            <a:off x="4083937" y="-1203579"/>
            <a:ext cx="4024126" cy="10820401"/>
          </a:xfrm>
          <a:prstGeom prst="rect">
            <a:avLst/>
          </a:prstGeom>
        </p:spPr>
        <p:txBody>
          <a:bodyPr/>
          <a:lstStyle>
            <a:lvl1pPr indent="-342900"/>
            <a:lvl2pPr marL="948689" indent="-377189"/>
            <a:lvl4pPr marL="1957387" indent="-471487"/>
            <a:lvl5pPr marL="2414587" indent="-471487"/>
          </a:lstStyle>
          <a:p>
            <a:pPr/>
            <a:r>
              <a:t>Body Level One</a:t>
            </a:r>
          </a:p>
          <a:p>
            <a:pPr lvl="1"/>
            <a:r>
              <a:t>Body Level Two</a:t>
            </a:r>
          </a:p>
          <a:p>
            <a:pPr lvl="2"/>
            <a:r>
              <a:t>Body Level Three</a:t>
            </a:r>
          </a:p>
          <a:p>
            <a:pPr lvl="3"/>
            <a:r>
              <a:t>Body Level Four</a:t>
            </a:r>
          </a:p>
          <a:p>
            <a:pPr lvl="4"/>
            <a:r>
              <a:t>Body Level Five</a:t>
            </a:r>
          </a:p>
        </p:txBody>
      </p:sp>
      <p:sp>
        <p:nvSpPr>
          <p:cNvPr id="1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pic>
        <p:nvPicPr>
          <p:cNvPr id="183" name="Google Shape;134;p32" descr="Google Shape;134;p32"/>
          <p:cNvPicPr>
            <a:picLocks noChangeAspect="1"/>
          </p:cNvPicPr>
          <p:nvPr/>
        </p:nvPicPr>
        <p:blipFill>
          <a:blip r:embed="rId2">
            <a:extLst/>
          </a:blip>
          <a:stretch>
            <a:fillRect/>
          </a:stretch>
        </p:blipFill>
        <p:spPr>
          <a:xfrm>
            <a:off x="0" y="4375150"/>
            <a:ext cx="12192000" cy="2482850"/>
          </a:xfrm>
          <a:prstGeom prst="rect">
            <a:avLst/>
          </a:prstGeom>
          <a:ln w="12700">
            <a:miter lim="400000"/>
          </a:ln>
        </p:spPr>
      </p:pic>
      <p:sp>
        <p:nvSpPr>
          <p:cNvPr id="184" name="Title Text"/>
          <p:cNvSpPr txBox="1"/>
          <p:nvPr>
            <p:ph type="title"/>
          </p:nvPr>
        </p:nvSpPr>
        <p:spPr>
          <a:xfrm rot="5400000">
            <a:off x="8525933" y="1667933"/>
            <a:ext cx="3903134" cy="2057401"/>
          </a:xfrm>
          <a:prstGeom prst="rect">
            <a:avLst/>
          </a:prstGeom>
        </p:spPr>
        <p:txBody>
          <a:bodyPr/>
          <a:lstStyle>
            <a:lvl1pPr algn="l"/>
          </a:lstStyle>
          <a:p>
            <a:pPr/>
            <a:r>
              <a:t>Title Text</a:t>
            </a:r>
          </a:p>
        </p:txBody>
      </p:sp>
      <p:sp>
        <p:nvSpPr>
          <p:cNvPr id="185" name="Body Level One…"/>
          <p:cNvSpPr txBox="1"/>
          <p:nvPr>
            <p:ph type="body" sz="half" idx="1"/>
          </p:nvPr>
        </p:nvSpPr>
        <p:spPr>
          <a:xfrm rot="5400000">
            <a:off x="3175000" y="-1405468"/>
            <a:ext cx="3903134" cy="8204202"/>
          </a:xfrm>
          <a:prstGeom prst="rect">
            <a:avLst/>
          </a:prstGeom>
        </p:spPr>
        <p:txBody>
          <a:bodyPr/>
          <a:lstStyle>
            <a:lvl1pPr indent="-342900"/>
            <a:lvl2pPr marL="948689" indent="-377189"/>
            <a:lvl4pPr marL="1957387" indent="-471487"/>
            <a:lvl5pPr marL="2414587" indent="-471487"/>
          </a:lstStyle>
          <a:p>
            <a:pPr/>
            <a:r>
              <a:t>Body Level One</a:t>
            </a:r>
          </a:p>
          <a:p>
            <a:pPr lvl="1"/>
            <a:r>
              <a:t>Body Level Two</a:t>
            </a:r>
          </a:p>
          <a:p>
            <a:pPr lvl="2"/>
            <a:r>
              <a:t>Body Level Three</a:t>
            </a:r>
          </a:p>
          <a:p>
            <a:pPr lvl="3"/>
            <a:r>
              <a:t>Body Level Four</a:t>
            </a:r>
          </a:p>
          <a:p>
            <a:pPr lvl="4"/>
            <a:r>
              <a:t>Body Level Five</a:t>
            </a:r>
          </a:p>
        </p:txBody>
      </p:sp>
      <p:sp>
        <p:nvSpPr>
          <p:cNvPr id="1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pic>
        <p:nvPicPr>
          <p:cNvPr id="2" name="Google Shape;6;p15" descr="Google Shape;6;p15"/>
          <p:cNvPicPr>
            <a:picLocks noChangeAspect="1"/>
          </p:cNvPicPr>
          <p:nvPr/>
        </p:nvPicPr>
        <p:blipFill>
          <a:blip r:embed="rId2">
            <a:extLst/>
          </a:blip>
          <a:stretch>
            <a:fillRect/>
          </a:stretch>
        </p:blipFill>
        <p:spPr>
          <a:xfrm>
            <a:off x="0" y="0"/>
            <a:ext cx="12192000" cy="1441450"/>
          </a:xfrm>
          <a:prstGeom prst="rect">
            <a:avLst/>
          </a:prstGeom>
          <a:ln w="12700">
            <a:miter lim="400000"/>
          </a:ln>
        </p:spPr>
      </p:pic>
      <p:sp>
        <p:nvSpPr>
          <p:cNvPr id="3"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4"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5" name="Slide Number"/>
          <p:cNvSpPr txBox="1"/>
          <p:nvPr>
            <p:ph type="sldNum" sz="quarter" idx="2"/>
          </p:nvPr>
        </p:nvSpPr>
        <p:spPr>
          <a:xfrm>
            <a:off x="11261333" y="441662"/>
            <a:ext cx="244868" cy="243801"/>
          </a:xfrm>
          <a:prstGeom prst="rect">
            <a:avLst/>
          </a:prstGeom>
          <a:ln w="12700">
            <a:miter lim="400000"/>
          </a:ln>
        </p:spPr>
        <p:txBody>
          <a:bodyPr wrap="none" lIns="45699" tIns="45699" rIns="45699" bIns="45699" anchor="ctr">
            <a:spAutoFit/>
          </a:bodyPr>
          <a:lstStyle>
            <a:lvl1pPr algn="r">
              <a:defRPr sz="1000">
                <a:solidFill>
                  <a:srgbClr val="FFFFFF"/>
                </a:solidFill>
                <a:latin typeface="Century Gothic"/>
                <a:ea typeface="Century Gothic"/>
                <a:cs typeface="Century Gothic"/>
                <a:sym typeface="Century Gothic"/>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transition xmlns:p14="http://schemas.microsoft.com/office/powerpoint/2010/main" spd="med" advClick="1"/>
  <p:txStyles>
    <p:titleStyle>
      <a:lvl1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1pPr>
      <a:lvl2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2pPr>
      <a:lvl3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3pPr>
      <a:lvl4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4pPr>
      <a:lvl5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5pPr>
      <a:lvl6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6pPr>
      <a:lvl7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7pPr>
      <a:lvl8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8pPr>
      <a:lvl9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9pPr>
    </p:titleStyle>
    <p:bodyStyle>
      <a:lvl1pPr marL="457200" marR="0" indent="-368300"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1pPr>
      <a:lvl2pPr marL="949960" marR="0" indent="-391160"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2pPr>
      <a:lvl3pPr marL="1447800" marR="0" indent="-419100"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3pPr>
      <a:lvl4pPr marL="1952625" marR="0" indent="-454025"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4pPr>
      <a:lvl5pPr marL="2409825" marR="0" indent="-454025"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5pPr>
      <a:lvl6pPr marL="2867025" marR="0" indent="-454025"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6pPr>
      <a:lvl7pPr marL="3324225" marR="0" indent="-454025"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7pPr>
      <a:lvl8pPr marL="3781425" marR="0" indent="-454025"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8pPr>
      <a:lvl9pPr marL="4238625" marR="0" indent="-454025"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1pPr>
      <a:lvl2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2pPr>
      <a:lvl3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3pPr>
      <a:lvl4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4pPr>
      <a:lvl5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5pPr>
      <a:lvl6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6pPr>
      <a:lvl7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7pPr>
      <a:lvl8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8pPr>
      <a:lvl9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7.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8.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9.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0.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1.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3.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hyperlink" Target="https://github.com/google/googletest/blob/main/docs/primer.md" TargetMode="External"/><Relationship Id="rId4" Type="http://schemas.openxmlformats.org/officeDocument/2006/relationships/hyperlink" Target="https://https://www.csoonline.com/article/534628/the-biggest-data-breaches-of-the-21st-century.html" TargetMode="External"/><Relationship Id="rId5" Type="http://schemas.openxmlformats.org/officeDocument/2006/relationships/hyperlink" Target="https://cams.mit.edu/wp-content/uploads/capitalonedatapaper.pdf" TargetMode="External"/><Relationship Id="rId6" Type="http://schemas.openxmlformats.org/officeDocument/2006/relationships/hyperlink" Target="https://us.norton.com/blog/privacy/security-breach" TargetMode="External"/><Relationship Id="rId7" Type="http://schemas.openxmlformats.org/officeDocument/2006/relationships/hyperlink" Target="https://www.sei.cmu.edu/library/sei-cert-c-and-c-coding-standards/" TargetMode="External"/><Relationship Id="rId8" Type="http://schemas.openxmlformats.org/officeDocument/2006/relationships/hyperlink" Target="https://www.sonarsource.com/knowledge/languages/cpp/"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Google Shape;144;p1"/>
          <p:cNvSpPr txBox="1"/>
          <p:nvPr>
            <p:ph type="ctrTitle"/>
          </p:nvPr>
        </p:nvSpPr>
        <p:spPr>
          <a:xfrm>
            <a:off x="1371600" y="1790152"/>
            <a:ext cx="9448800" cy="1825097"/>
          </a:xfrm>
          <a:prstGeom prst="rect">
            <a:avLst/>
          </a:prstGeom>
        </p:spPr>
        <p:txBody>
          <a:bodyPr/>
          <a:lstStyle/>
          <a:p>
            <a:pPr/>
            <a:r>
              <a:t>Green Pace</a:t>
            </a:r>
          </a:p>
        </p:txBody>
      </p:sp>
      <p:sp>
        <p:nvSpPr>
          <p:cNvPr id="196" name="Google Shape;145;p1"/>
          <p:cNvSpPr txBox="1"/>
          <p:nvPr>
            <p:ph type="subTitle" sz="quarter" idx="1"/>
          </p:nvPr>
        </p:nvSpPr>
        <p:spPr>
          <a:xfrm>
            <a:off x="1371600" y="3632200"/>
            <a:ext cx="9448800" cy="1561592"/>
          </a:xfrm>
          <a:prstGeom prst="rect">
            <a:avLst/>
          </a:prstGeom>
        </p:spPr>
        <p:txBody>
          <a:bodyPr/>
          <a:lstStyle/>
          <a:p>
            <a:pPr marL="0" indent="0">
              <a:lnSpc>
                <a:spcPct val="70000"/>
              </a:lnSpc>
              <a:spcBef>
                <a:spcPts val="0"/>
              </a:spcBef>
              <a:defRPr sz="1800"/>
            </a:pPr>
            <a:r>
              <a:t>Security Policy Presentation</a:t>
            </a:r>
          </a:p>
          <a:p>
            <a:pPr marL="0" indent="0">
              <a:lnSpc>
                <a:spcPct val="70000"/>
              </a:lnSpc>
              <a:defRPr sz="1800"/>
            </a:pPr>
            <a:r>
              <a:t>Developer: </a:t>
            </a:r>
            <a:r>
              <a:rPr i="1"/>
              <a:t>Tristan Ponte</a:t>
            </a:r>
          </a:p>
        </p:txBody>
      </p:sp>
      <p:pic>
        <p:nvPicPr>
          <p:cNvPr id="197" name="Google Shape;146;p1" descr="Google Shape;146;p1"/>
          <p:cNvPicPr>
            <a:picLocks noChangeAspect="1"/>
          </p:cNvPicPr>
          <p:nvPr/>
        </p:nvPicPr>
        <p:blipFill>
          <a:blip r:embed="rId2">
            <a:extLst/>
          </a:blip>
          <a:stretch>
            <a:fillRect/>
          </a:stretch>
        </p:blipFill>
        <p:spPr>
          <a:xfrm>
            <a:off x="7440773" y="659854"/>
            <a:ext cx="2921425" cy="3786772"/>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Google Shape;151;p3"/>
          <p:cNvSpPr txBox="1"/>
          <p:nvPr>
            <p:ph type="title"/>
          </p:nvPr>
        </p:nvSpPr>
        <p:spPr>
          <a:xfrm>
            <a:off x="2928242" y="756212"/>
            <a:ext cx="8610601" cy="1293029"/>
          </a:xfrm>
          <a:prstGeom prst="rect">
            <a:avLst/>
          </a:prstGeom>
        </p:spPr>
        <p:txBody>
          <a:bodyPr/>
          <a:lstStyle>
            <a:lvl1pPr algn="ctr">
              <a:defRPr b="1" sz="4500"/>
            </a:lvl1pPr>
          </a:lstStyle>
          <a:p>
            <a:pPr/>
            <a:r>
              <a:t>OVERVIEW: DEFENSE IN DEPTH</a:t>
            </a:r>
          </a:p>
        </p:txBody>
      </p:sp>
      <p:sp>
        <p:nvSpPr>
          <p:cNvPr id="200" name="Google Shape;152;p3"/>
          <p:cNvSpPr txBox="1"/>
          <p:nvPr>
            <p:ph type="body" sz="half" idx="1"/>
          </p:nvPr>
        </p:nvSpPr>
        <p:spPr>
          <a:xfrm>
            <a:off x="734763" y="1946073"/>
            <a:ext cx="5826088" cy="2965854"/>
          </a:xfrm>
          <a:prstGeom prst="rect">
            <a:avLst/>
          </a:prstGeom>
        </p:spPr>
        <p:txBody>
          <a:bodyPr/>
          <a:lstStyle/>
          <a:p>
            <a:pPr marL="285750" indent="-285750">
              <a:lnSpc>
                <a:spcPct val="100000"/>
              </a:lnSpc>
              <a:spcBef>
                <a:spcPts val="600"/>
              </a:spcBef>
              <a:buClr>
                <a:srgbClr val="8DC63F"/>
              </a:buClr>
              <a:buSzPct val="100000"/>
              <a:defRPr sz="1500">
                <a:latin typeface="+mn-lt"/>
                <a:ea typeface="+mn-ea"/>
                <a:cs typeface="+mn-cs"/>
                <a:sym typeface="Arial"/>
              </a:defRPr>
            </a:pPr>
            <a:r>
              <a:t>Green Pace had secure habits but nothing written down so every developer handled security a little differently</a:t>
            </a:r>
            <a:br/>
          </a:p>
          <a:p>
            <a:pPr marL="285750" indent="-285750">
              <a:lnSpc>
                <a:spcPct val="100000"/>
              </a:lnSpc>
              <a:spcBef>
                <a:spcPts val="600"/>
              </a:spcBef>
              <a:buClr>
                <a:srgbClr val="8DC63F"/>
              </a:buClr>
              <a:buSzPct val="100000"/>
              <a:defRPr sz="1500">
                <a:latin typeface="+mn-lt"/>
                <a:ea typeface="+mn-ea"/>
                <a:cs typeface="+mn-cs"/>
                <a:sym typeface="Arial"/>
              </a:defRPr>
            </a:pPr>
            <a:r>
              <a:t>This policy standardizes 10 core principles, 10 C++ coding standards, and our encryption and Triple A policies</a:t>
            </a:r>
            <a:br/>
          </a:p>
          <a:p>
            <a:pPr marL="285750" indent="-285750">
              <a:lnSpc>
                <a:spcPct val="100000"/>
              </a:lnSpc>
              <a:spcBef>
                <a:spcPts val="600"/>
              </a:spcBef>
              <a:buClr>
                <a:srgbClr val="8DC63F"/>
              </a:buClr>
              <a:buSzPct val="100000"/>
              <a:defRPr sz="1500">
                <a:latin typeface="+mn-lt"/>
                <a:ea typeface="+mn-ea"/>
                <a:cs typeface="+mn-cs"/>
                <a:sym typeface="Arial"/>
              </a:defRPr>
            </a:pPr>
            <a:r>
              <a:t>Each standard is its own layer so if one control fails the next one still protects our critical systems and data</a:t>
            </a:r>
            <a:br/>
          </a:p>
          <a:p>
            <a:pPr marL="285750" indent="-285750">
              <a:lnSpc>
                <a:spcPct val="100000"/>
              </a:lnSpc>
              <a:spcBef>
                <a:spcPts val="600"/>
              </a:spcBef>
              <a:buClr>
                <a:srgbClr val="8DC63F"/>
              </a:buClr>
              <a:buSzPct val="100000"/>
              <a:defRPr sz="1500">
                <a:latin typeface="+mn-lt"/>
                <a:ea typeface="+mn-ea"/>
                <a:cs typeface="+mn-cs"/>
                <a:sym typeface="Arial"/>
              </a:defRPr>
            </a:pPr>
            <a:r>
              <a:t>That layering is defense in depth and its the foundation of the whole policy…</a:t>
            </a:r>
          </a:p>
        </p:txBody>
      </p:sp>
      <p:pic>
        <p:nvPicPr>
          <p:cNvPr id="201" name="Google Shape;153;p3" descr="Google Shape;153;p3"/>
          <p:cNvPicPr>
            <a:picLocks noChangeAspect="1"/>
          </p:cNvPicPr>
          <p:nvPr/>
        </p:nvPicPr>
        <p:blipFill>
          <a:blip r:embed="rId2">
            <a:extLst/>
          </a:blip>
          <a:stretch>
            <a:fillRect/>
          </a:stretch>
        </p:blipFill>
        <p:spPr>
          <a:xfrm>
            <a:off x="6670778" y="1958061"/>
            <a:ext cx="5040407" cy="2965854"/>
          </a:xfrm>
          <a:prstGeom prst="rect">
            <a:avLst/>
          </a:prstGeom>
          <a:ln w="12700">
            <a:miter lim="400000"/>
          </a:ln>
        </p:spPr>
      </p:pic>
      <p:pic>
        <p:nvPicPr>
          <p:cNvPr id="202" name="Google Shape;154;p3" descr="Google Shape;154;p3"/>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Google Shape;159;p4"/>
          <p:cNvSpPr txBox="1"/>
          <p:nvPr>
            <p:ph type="title"/>
          </p:nvPr>
        </p:nvSpPr>
        <p:spPr>
          <a:xfrm>
            <a:off x="2895600" y="764373"/>
            <a:ext cx="8610600" cy="1293028"/>
          </a:xfrm>
          <a:prstGeom prst="rect">
            <a:avLst/>
          </a:prstGeom>
        </p:spPr>
        <p:txBody>
          <a:bodyPr/>
          <a:lstStyle>
            <a:lvl1pPr algn="ctr">
              <a:defRPr b="1" sz="4500" u="sng"/>
            </a:lvl1pPr>
          </a:lstStyle>
          <a:p>
            <a:pPr/>
            <a:r>
              <a:t>THREATS MATRIX</a:t>
            </a:r>
          </a:p>
        </p:txBody>
      </p:sp>
      <p:sp>
        <p:nvSpPr>
          <p:cNvPr id="205" name="Google Shape;160;p4"/>
          <p:cNvSpPr txBox="1"/>
          <p:nvPr>
            <p:ph type="body" sz="quarter" idx="1"/>
          </p:nvPr>
        </p:nvSpPr>
        <p:spPr>
          <a:xfrm>
            <a:off x="685800" y="2549537"/>
            <a:ext cx="2204558" cy="3669214"/>
          </a:xfrm>
          <a:prstGeom prst="rect">
            <a:avLst/>
          </a:prstGeom>
        </p:spPr>
        <p:txBody>
          <a:bodyPr/>
          <a:lstStyle/>
          <a:p>
            <a:pPr marL="0" indent="0" defTabSz="722376">
              <a:lnSpc>
                <a:spcPct val="100000"/>
              </a:lnSpc>
              <a:spcBef>
                <a:spcPts val="300"/>
              </a:spcBef>
              <a:buSzTx/>
              <a:buNone/>
              <a:defRPr b="1" sz="1422">
                <a:solidFill>
                  <a:srgbClr val="8DC63F"/>
                </a:solidFill>
              </a:defRPr>
            </a:pPr>
            <a:r>
              <a:t>How I placed them</a:t>
            </a:r>
          </a:p>
          <a:p>
            <a:pPr marL="0" indent="0" defTabSz="722376">
              <a:lnSpc>
                <a:spcPct val="100000"/>
              </a:lnSpc>
              <a:spcBef>
                <a:spcPts val="300"/>
              </a:spcBef>
              <a:buSzTx/>
              <a:buNone/>
              <a:defRPr b="1" sz="1422">
                <a:solidFill>
                  <a:srgbClr val="8DC63F"/>
                </a:solidFill>
              </a:defRPr>
            </a:pPr>
          </a:p>
          <a:p>
            <a:pPr marL="0" indent="0" defTabSz="722376">
              <a:lnSpc>
                <a:spcPct val="100000"/>
              </a:lnSpc>
              <a:spcBef>
                <a:spcPts val="300"/>
              </a:spcBef>
              <a:buSzTx/>
              <a:buNone/>
              <a:defRPr b="1" sz="1422"/>
            </a:pPr>
            <a:r>
              <a:t>Priority: </a:t>
            </a:r>
            <a:r>
              <a:rPr b="0"/>
              <a:t>high severity and likely, Levels 4 and 5</a:t>
            </a:r>
            <a:endParaRPr b="0"/>
          </a:p>
          <a:p>
            <a:pPr marL="0" indent="0" defTabSz="722376">
              <a:lnSpc>
                <a:spcPct val="100000"/>
              </a:lnSpc>
              <a:spcBef>
                <a:spcPts val="300"/>
              </a:spcBef>
              <a:buSzTx/>
              <a:buNone/>
              <a:defRPr b="1" sz="1422"/>
            </a:pPr>
            <a:endParaRPr b="0"/>
          </a:p>
          <a:p>
            <a:pPr marL="0" indent="0" defTabSz="722376">
              <a:lnSpc>
                <a:spcPct val="100000"/>
              </a:lnSpc>
              <a:spcBef>
                <a:spcPts val="300"/>
              </a:spcBef>
              <a:buSzTx/>
              <a:buNone/>
              <a:defRPr b="1" sz="1422"/>
            </a:pPr>
            <a:r>
              <a:t>Unlikely: </a:t>
            </a:r>
            <a:r>
              <a:rPr b="0"/>
              <a:t>high severity but less likely, Level 3</a:t>
            </a:r>
            <a:endParaRPr b="0"/>
          </a:p>
          <a:p>
            <a:pPr marL="0" indent="0" defTabSz="722376">
              <a:lnSpc>
                <a:spcPct val="100000"/>
              </a:lnSpc>
              <a:spcBef>
                <a:spcPts val="300"/>
              </a:spcBef>
              <a:buSzTx/>
              <a:buNone/>
              <a:defRPr b="1" sz="1422"/>
            </a:pPr>
            <a:endParaRPr b="0"/>
          </a:p>
          <a:p>
            <a:pPr marL="0" indent="0" defTabSz="722376">
              <a:lnSpc>
                <a:spcPct val="100000"/>
              </a:lnSpc>
              <a:spcBef>
                <a:spcPts val="300"/>
              </a:spcBef>
              <a:buSzTx/>
              <a:buNone/>
              <a:defRPr b="1" sz="1422"/>
            </a:pPr>
            <a:r>
              <a:t>Likely: </a:t>
            </a:r>
            <a:r>
              <a:rPr b="0"/>
              <a:t>probable but low severity, Level 2</a:t>
            </a:r>
            <a:endParaRPr b="0"/>
          </a:p>
          <a:p>
            <a:pPr marL="0" indent="0" defTabSz="722376">
              <a:lnSpc>
                <a:spcPct val="100000"/>
              </a:lnSpc>
              <a:spcBef>
                <a:spcPts val="300"/>
              </a:spcBef>
              <a:buSzTx/>
              <a:buNone/>
              <a:defRPr b="1" sz="1422"/>
            </a:pPr>
            <a:endParaRPr b="0"/>
          </a:p>
          <a:p>
            <a:pPr marL="0" indent="0" defTabSz="722376">
              <a:lnSpc>
                <a:spcPct val="100000"/>
              </a:lnSpc>
              <a:spcBef>
                <a:spcPts val="0"/>
              </a:spcBef>
              <a:buSzTx/>
              <a:buNone/>
              <a:defRPr b="1" sz="1422"/>
            </a:pPr>
            <a:r>
              <a:t>Low priority: </a:t>
            </a:r>
            <a:r>
              <a:rPr b="0"/>
              <a:t>low severity and unlikely, Level 1</a:t>
            </a:r>
          </a:p>
        </p:txBody>
      </p:sp>
      <p:graphicFrame>
        <p:nvGraphicFramePr>
          <p:cNvPr id="206" name="Google Shape;161;p4"/>
          <p:cNvGraphicFramePr/>
          <p:nvPr/>
        </p:nvGraphicFramePr>
        <p:xfrm>
          <a:off x="3171899" y="2561050"/>
          <a:ext cx="7835226" cy="3538650"/>
        </p:xfrm>
        <a:graphic xmlns:a="http://schemas.openxmlformats.org/drawingml/2006/main">
          <a:graphicData uri="http://schemas.openxmlformats.org/drawingml/2006/table">
            <a:tbl>
              <a:tblPr firstCol="1" firstRow="1" lastCol="0" lastRow="0" bandCol="0" bandRow="0" rtl="0">
                <a:tableStyleId>{4C3C2611-4C71-4FC5-86AE-919BDF0F9419}</a:tableStyleId>
              </a:tblPr>
              <a:tblGrid>
                <a:gridCol w="4030425"/>
                <a:gridCol w="3804800"/>
              </a:tblGrid>
              <a:tr h="1769325">
                <a:tc>
                  <a:txBody>
                    <a:bodyPr/>
                    <a:lstStyle/>
                    <a:p>
                      <a:pPr algn="ctr">
                        <a:defRPr sz="3600">
                          <a:solidFill>
                            <a:srgbClr val="FFD966"/>
                          </a:solidFill>
                          <a:sym typeface="Arial"/>
                        </a:defRPr>
                      </a:pPr>
                      <a:r>
                        <a:t>Likely</a:t>
                      </a:r>
                    </a:p>
                    <a:p>
                      <a:pPr algn="ctr">
                        <a:defRPr b="1" sz="1600">
                          <a:solidFill>
                            <a:srgbClr val="3B2F00"/>
                          </a:solidFill>
                          <a:sym typeface="Arial"/>
                        </a:defRPr>
                      </a:pPr>
                      <a:r>
                        <a:t>STD-007-CPP</a:t>
                      </a:r>
                    </a:p>
                    <a:p>
                      <a:pPr algn="ctr">
                        <a:defRPr b="1" sz="1600">
                          <a:solidFill>
                            <a:srgbClr val="3B2F00"/>
                          </a:solidFill>
                          <a:sym typeface="Arial"/>
                        </a:defRPr>
                      </a:pPr>
                      <a:r>
                        <a:t>STD-010-CPP</a:t>
                      </a:r>
                    </a:p>
                  </a:txBody>
                  <a:tcPr marL="91425" marR="91425" marT="91425" marB="91425" anchor="t" anchorCtr="0" horzOverflow="overflow">
                    <a:lnL w="28575">
                      <a:solidFill>
                        <a:srgbClr val="9E9E9E"/>
                      </a:solidFill>
                    </a:lnL>
                    <a:lnR w="28575">
                      <a:solidFill>
                        <a:srgbClr val="9E9E9E"/>
                      </a:solidFill>
                    </a:lnR>
                    <a:lnT w="28575">
                      <a:solidFill>
                        <a:srgbClr val="9E9E9E"/>
                      </a:solidFill>
                    </a:lnT>
                    <a:lnB w="28575">
                      <a:solidFill>
                        <a:srgbClr val="9E9E9E"/>
                      </a:solidFill>
                    </a:lnB>
                    <a:solidFill>
                      <a:srgbClr val="FFF2CC"/>
                    </a:solidFill>
                  </a:tcPr>
                </a:tc>
                <a:tc>
                  <a:txBody>
                    <a:bodyPr/>
                    <a:lstStyle/>
                    <a:p>
                      <a:pPr algn="ctr">
                        <a:defRPr sz="3600">
                          <a:solidFill>
                            <a:srgbClr val="FFD966"/>
                          </a:solidFill>
                          <a:sym typeface="Arial"/>
                        </a:defRPr>
                      </a:pPr>
                      <a:r>
                        <a:t>Priority</a:t>
                      </a:r>
                    </a:p>
                    <a:p>
                      <a:pPr algn="ctr">
                        <a:defRPr b="1" sz="1600">
                          <a:solidFill>
                            <a:srgbClr val="3B2F00"/>
                          </a:solidFill>
                          <a:sym typeface="Arial"/>
                        </a:defRPr>
                      </a:pPr>
                      <a:r>
                        <a:t>STD-002-CPP   STD-003-CPP</a:t>
                      </a:r>
                    </a:p>
                    <a:p>
                      <a:pPr algn="ctr">
                        <a:defRPr b="1" sz="1600">
                          <a:solidFill>
                            <a:srgbClr val="3B2F00"/>
                          </a:solidFill>
                          <a:sym typeface="Arial"/>
                        </a:defRPr>
                      </a:pPr>
                      <a:r>
                        <a:t>STD-004-CPP   STD-005-CPP</a:t>
                      </a:r>
                    </a:p>
                    <a:p>
                      <a:pPr algn="ctr">
                        <a:defRPr b="1" sz="1600">
                          <a:solidFill>
                            <a:srgbClr val="3B2F00"/>
                          </a:solidFill>
                          <a:sym typeface="Arial"/>
                        </a:defRPr>
                      </a:pPr>
                      <a:r>
                        <a:t>STD-008-CPP   STD-009-CPP</a:t>
                      </a:r>
                    </a:p>
                  </a:txBody>
                  <a:tcPr marL="91425" marR="91425" marT="91425" marB="91425" anchor="t" anchorCtr="0" horzOverflow="overflow">
                    <a:lnL w="28575">
                      <a:solidFill>
                        <a:srgbClr val="9E9E9E"/>
                      </a:solidFill>
                    </a:lnL>
                    <a:lnR w="28575">
                      <a:solidFill>
                        <a:srgbClr val="9E9E9E"/>
                      </a:solidFill>
                    </a:lnR>
                    <a:lnT w="28575">
                      <a:solidFill>
                        <a:srgbClr val="9E9E9E"/>
                      </a:solidFill>
                    </a:lnT>
                    <a:lnB w="28575">
                      <a:solidFill>
                        <a:srgbClr val="9E9E9E"/>
                      </a:solidFill>
                    </a:lnB>
                    <a:solidFill>
                      <a:srgbClr val="FFF2CC"/>
                    </a:solidFill>
                  </a:tcPr>
                </a:tc>
              </a:tr>
              <a:tr h="1769325">
                <a:tc>
                  <a:txBody>
                    <a:bodyPr/>
                    <a:lstStyle/>
                    <a:p>
                      <a:pPr algn="ctr">
                        <a:defRPr sz="3600">
                          <a:solidFill>
                            <a:srgbClr val="FFD966"/>
                          </a:solidFill>
                          <a:sym typeface="Arial"/>
                        </a:defRPr>
                      </a:pPr>
                      <a:r>
                        <a:t>Low priority</a:t>
                      </a:r>
                    </a:p>
                    <a:p>
                      <a:pPr algn="ctr">
                        <a:defRPr b="1" sz="1600">
                          <a:solidFill>
                            <a:srgbClr val="3B2F00"/>
                          </a:solidFill>
                          <a:sym typeface="Arial"/>
                        </a:defRPr>
                      </a:pPr>
                      <a:r>
                        <a:t>STD-006-CPP</a:t>
                      </a:r>
                    </a:p>
                  </a:txBody>
                  <a:tcPr marL="91425" marR="91425" marT="91425" marB="91425" anchor="t" anchorCtr="0" horzOverflow="overflow">
                    <a:lnL w="28575">
                      <a:solidFill>
                        <a:srgbClr val="9E9E9E"/>
                      </a:solidFill>
                    </a:lnL>
                    <a:lnR w="28575">
                      <a:solidFill>
                        <a:srgbClr val="9E9E9E"/>
                      </a:solidFill>
                    </a:lnR>
                    <a:lnT w="28575">
                      <a:solidFill>
                        <a:srgbClr val="9E9E9E"/>
                      </a:solidFill>
                    </a:lnT>
                    <a:lnB w="28575">
                      <a:solidFill>
                        <a:srgbClr val="9E9E9E"/>
                      </a:solidFill>
                    </a:lnB>
                    <a:solidFill>
                      <a:srgbClr val="FFF2CC"/>
                    </a:solidFill>
                  </a:tcPr>
                </a:tc>
                <a:tc>
                  <a:txBody>
                    <a:bodyPr/>
                    <a:lstStyle/>
                    <a:p>
                      <a:pPr algn="ctr">
                        <a:defRPr sz="3600">
                          <a:solidFill>
                            <a:srgbClr val="FFD966"/>
                          </a:solidFill>
                          <a:sym typeface="Arial"/>
                        </a:defRPr>
                      </a:pPr>
                      <a:r>
                        <a:t>Unlikely</a:t>
                      </a:r>
                    </a:p>
                    <a:p>
                      <a:pPr algn="ctr">
                        <a:defRPr b="1" sz="1600">
                          <a:solidFill>
                            <a:srgbClr val="3B2F00"/>
                          </a:solidFill>
                          <a:sym typeface="Arial"/>
                        </a:defRPr>
                      </a:pPr>
                      <a:r>
                        <a:t>STD-001-CPP</a:t>
                      </a:r>
                    </a:p>
                  </a:txBody>
                  <a:tcPr marL="91425" marR="91425" marT="91425" marB="91425" anchor="t" anchorCtr="0" horzOverflow="overflow">
                    <a:lnL w="28575">
                      <a:solidFill>
                        <a:srgbClr val="9E9E9E"/>
                      </a:solidFill>
                    </a:lnL>
                    <a:lnR w="28575">
                      <a:solidFill>
                        <a:srgbClr val="9E9E9E"/>
                      </a:solidFill>
                    </a:lnR>
                    <a:lnT w="28575">
                      <a:solidFill>
                        <a:srgbClr val="9E9E9E"/>
                      </a:solidFill>
                    </a:lnT>
                    <a:lnB w="28575">
                      <a:solidFill>
                        <a:srgbClr val="9E9E9E"/>
                      </a:solidFill>
                    </a:lnB>
                    <a:solidFill>
                      <a:srgbClr val="FFF2CC"/>
                    </a:solidFill>
                  </a:tcPr>
                </a:tc>
              </a:tr>
            </a:tbl>
          </a:graphicData>
        </a:graphic>
      </p:graphicFrame>
      <p:pic>
        <p:nvPicPr>
          <p:cNvPr id="207" name="Google Shape;162;p4" descr="Google Shape;162;p4"/>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AUTOMATED DETECTION"/>
          <p:cNvSpPr txBox="1"/>
          <p:nvPr>
            <p:ph type="title"/>
          </p:nvPr>
        </p:nvSpPr>
        <p:spPr>
          <a:prstGeom prst="rect">
            <a:avLst/>
          </a:prstGeom>
        </p:spPr>
        <p:txBody>
          <a:bodyPr/>
          <a:lstStyle/>
          <a:p>
            <a:pPr/>
            <a:r>
              <a:t>AUTOMATED DETECTION</a:t>
            </a:r>
          </a:p>
        </p:txBody>
      </p:sp>
      <p:sp>
        <p:nvSpPr>
          <p:cNvPr id="210" name="I ran two automated tools on QuestionableCode.cpp from the module five activity…"/>
          <p:cNvSpPr txBox="1"/>
          <p:nvPr>
            <p:ph type="body" sz="half" idx="1"/>
          </p:nvPr>
        </p:nvSpPr>
        <p:spPr>
          <a:xfrm>
            <a:off x="481783" y="1925258"/>
            <a:ext cx="4895775" cy="4562729"/>
          </a:xfrm>
          <a:prstGeom prst="rect">
            <a:avLst/>
          </a:prstGeom>
        </p:spPr>
        <p:txBody>
          <a:bodyPr/>
          <a:lstStyle/>
          <a:p>
            <a:pPr marL="277177" indent="-277177" defTabSz="886968">
              <a:lnSpc>
                <a:spcPct val="100000"/>
              </a:lnSpc>
              <a:spcBef>
                <a:spcPts val="500"/>
              </a:spcBef>
              <a:buClr>
                <a:srgbClr val="8DC63F"/>
              </a:buClr>
              <a:buSzPct val="100000"/>
              <a:defRPr sz="1843">
                <a:latin typeface="+mn-lt"/>
                <a:ea typeface="+mn-ea"/>
                <a:cs typeface="+mn-cs"/>
                <a:sym typeface="Arial"/>
              </a:defRPr>
            </a:pPr>
            <a:r>
              <a:t>I ran two automated tools on QuestionableCode.cpp from the module five activity</a:t>
            </a:r>
            <a:br/>
          </a:p>
          <a:p>
            <a:pPr marL="277177" indent="-277177" defTabSz="886968">
              <a:lnSpc>
                <a:spcPct val="100000"/>
              </a:lnSpc>
              <a:spcBef>
                <a:spcPts val="500"/>
              </a:spcBef>
              <a:buClr>
                <a:srgbClr val="8DC63F"/>
              </a:buClr>
              <a:buSzPct val="100000"/>
              <a:defRPr b="1" sz="1843">
                <a:solidFill>
                  <a:srgbClr val="8DC63F"/>
                </a:solidFill>
                <a:latin typeface="+mn-lt"/>
                <a:ea typeface="+mn-ea"/>
                <a:cs typeface="+mn-cs"/>
                <a:sym typeface="Arial"/>
              </a:defRPr>
            </a:pPr>
            <a:r>
              <a:t>Clang: </a:t>
            </a:r>
            <a:r>
              <a:rPr b="0">
                <a:solidFill>
                  <a:srgbClr val="FFFFFF"/>
                </a:solidFill>
              </a:rPr>
              <a:t>compiler warnings plus its static analyzer found 9 issues like the noexcept throw and a null pointer</a:t>
            </a:r>
            <a:br>
              <a:rPr b="0">
                <a:solidFill>
                  <a:srgbClr val="FFFFFF"/>
                </a:solidFill>
              </a:rPr>
            </a:br>
            <a:endParaRPr b="0">
              <a:solidFill>
                <a:srgbClr val="FFFFFF"/>
              </a:solidFill>
            </a:endParaRPr>
          </a:p>
          <a:p>
            <a:pPr marL="277177" indent="-277177" defTabSz="886968">
              <a:lnSpc>
                <a:spcPct val="100000"/>
              </a:lnSpc>
              <a:spcBef>
                <a:spcPts val="500"/>
              </a:spcBef>
              <a:buClr>
                <a:srgbClr val="8DC63F"/>
              </a:buClr>
              <a:buSzPct val="100000"/>
              <a:defRPr b="1" sz="1843">
                <a:solidFill>
                  <a:srgbClr val="8DC63F"/>
                </a:solidFill>
                <a:latin typeface="+mn-lt"/>
                <a:ea typeface="+mn-ea"/>
                <a:cs typeface="+mn-cs"/>
                <a:sym typeface="Arial"/>
              </a:defRPr>
            </a:pPr>
            <a:r>
              <a:t>Cppcheck 2.22: </a:t>
            </a:r>
            <a:r>
              <a:rPr b="0">
                <a:solidFill>
                  <a:srgbClr val="FFFFFF"/>
                </a:solidFill>
              </a:rPr>
              <a:t>33 findings including the out of bounds write, dangling pointer and also invalid iterator the compiler missed</a:t>
            </a:r>
            <a:br>
              <a:rPr b="0">
                <a:solidFill>
                  <a:srgbClr val="FFFFFF"/>
                </a:solidFill>
              </a:rPr>
            </a:br>
            <a:endParaRPr b="0">
              <a:solidFill>
                <a:srgbClr val="FFFFFF"/>
              </a:solidFill>
            </a:endParaRPr>
          </a:p>
          <a:p>
            <a:pPr marL="277177" indent="-277177" defTabSz="886968">
              <a:lnSpc>
                <a:spcPct val="100000"/>
              </a:lnSpc>
              <a:spcBef>
                <a:spcPts val="500"/>
              </a:spcBef>
              <a:buClr>
                <a:srgbClr val="8DC63F"/>
              </a:buClr>
              <a:buSzPct val="100000"/>
              <a:defRPr b="1" sz="1843">
                <a:solidFill>
                  <a:srgbClr val="8DC63F"/>
                </a:solidFill>
                <a:latin typeface="+mn-lt"/>
                <a:ea typeface="+mn-ea"/>
                <a:cs typeface="+mn-cs"/>
                <a:sym typeface="Arial"/>
              </a:defRPr>
            </a:pPr>
            <a:r>
              <a:t>Takeaway: </a:t>
            </a:r>
            <a:r>
              <a:rPr b="0">
                <a:solidFill>
                  <a:srgbClr val="FFFFFF"/>
                </a:solidFill>
              </a:rPr>
              <a:t>neither tool caught the endless recursion or the empty catch so automation backs up code review it doesn't replace it</a:t>
            </a:r>
          </a:p>
        </p:txBody>
      </p:sp>
      <p:pic>
        <p:nvPicPr>
          <p:cNvPr id="211" name="Picture 2003" descr="Picture 2003"/>
          <p:cNvPicPr>
            <a:picLocks noChangeAspect="1"/>
          </p:cNvPicPr>
          <p:nvPr/>
        </p:nvPicPr>
        <p:blipFill>
          <a:blip r:embed="rId2">
            <a:extLst/>
          </a:blip>
          <a:stretch>
            <a:fillRect/>
          </a:stretch>
        </p:blipFill>
        <p:spPr>
          <a:xfrm>
            <a:off x="5635066" y="1933381"/>
            <a:ext cx="5948670" cy="4546483"/>
          </a:xfrm>
          <a:prstGeom prst="rect">
            <a:avLst/>
          </a:prstGeom>
          <a:ln w="12700">
            <a:solidFill>
              <a:srgbClr val="4A4A4A"/>
            </a:solidFill>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Google Shape;167;p5"/>
          <p:cNvSpPr txBox="1"/>
          <p:nvPr>
            <p:ph type="title"/>
          </p:nvPr>
        </p:nvSpPr>
        <p:spPr>
          <a:xfrm>
            <a:off x="2895600" y="764373"/>
            <a:ext cx="8610600" cy="1293028"/>
          </a:xfrm>
          <a:prstGeom prst="rect">
            <a:avLst/>
          </a:prstGeom>
        </p:spPr>
        <p:txBody>
          <a:bodyPr/>
          <a:lstStyle/>
          <a:p>
            <a:pPr/>
            <a:r>
              <a:t>10 PRINCIPLES</a:t>
            </a:r>
          </a:p>
        </p:txBody>
      </p:sp>
      <p:pic>
        <p:nvPicPr>
          <p:cNvPr id="214" name="Google Shape;169;p5" descr="Google Shape;169;p5"/>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graphicFrame>
        <p:nvGraphicFramePr>
          <p:cNvPr id="215" name="Principles to standards table 2004"/>
          <p:cNvGraphicFramePr/>
          <p:nvPr/>
        </p:nvGraphicFramePr>
        <p:xfrm>
          <a:off x="685800" y="2103120"/>
          <a:ext cx="10246063" cy="3728342"/>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4569883"/>
                <a:gridCol w="5666655"/>
              </a:tblGrid>
              <a:tr h="338074">
                <a:tc>
                  <a:txBody>
                    <a:bodyPr/>
                    <a:lstStyle/>
                    <a:p>
                      <a:pPr algn="l">
                        <a:defRPr sz="1800"/>
                      </a:pPr>
                      <a:r>
                        <a:rPr b="1" sz="1300">
                          <a:solidFill>
                            <a:srgbClr val="FFFFFF"/>
                          </a:solidFill>
                          <a:sym typeface="Arial"/>
                        </a:rPr>
                        <a:t>Principle</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3E6B23"/>
                    </a:solidFill>
                  </a:tcPr>
                </a:tc>
                <a:tc>
                  <a:txBody>
                    <a:bodyPr/>
                    <a:lstStyle/>
                    <a:p>
                      <a:pPr algn="l">
                        <a:defRPr sz="1800"/>
                      </a:pPr>
                      <a:r>
                        <a:rPr b="1" sz="1300">
                          <a:solidFill>
                            <a:srgbClr val="FFFFFF"/>
                          </a:solidFill>
                          <a:sym typeface="Arial"/>
                        </a:rPr>
                        <a:t>Coding standards it supports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3E6B23"/>
                    </a:solidFill>
                  </a:tcPr>
                </a:tc>
              </a:tr>
              <a:tr h="338074">
                <a:tc>
                  <a:txBody>
                    <a:bodyPr/>
                    <a:lstStyle/>
                    <a:p>
                      <a:pPr algn="l">
                        <a:defRPr sz="1800"/>
                      </a:pPr>
                      <a:r>
                        <a:rPr b="1" sz="1300">
                          <a:solidFill>
                            <a:srgbClr val="FFFFFF"/>
                          </a:solidFill>
                          <a:sym typeface="Arial"/>
                        </a:rPr>
                        <a:t>1. Validate Input Data</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300">
                          <a:solidFill>
                            <a:srgbClr val="FFFFFF"/>
                          </a:solidFill>
                          <a:sym typeface="Arial"/>
                        </a:rPr>
                        <a:t>STD-001, STD-002, STD-003, STD-004, STD-009</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338074">
                <a:tc>
                  <a:txBody>
                    <a:bodyPr/>
                    <a:lstStyle/>
                    <a:p>
                      <a:pPr algn="l">
                        <a:defRPr sz="1800"/>
                      </a:pPr>
                      <a:r>
                        <a:rPr b="1" sz="1300">
                          <a:solidFill>
                            <a:srgbClr val="FFFFFF"/>
                          </a:solidFill>
                          <a:sym typeface="Arial"/>
                        </a:rPr>
                        <a:t>2. Heed Compiler Warnings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300">
                          <a:solidFill>
                            <a:srgbClr val="FFFFFF"/>
                          </a:solidFill>
                          <a:sym typeface="Arial"/>
                        </a:rPr>
                        <a:t>STD-001, STD-002, STD-006, STD-009</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r h="338074">
                <a:tc>
                  <a:txBody>
                    <a:bodyPr/>
                    <a:lstStyle/>
                    <a:p>
                      <a:pPr algn="l">
                        <a:defRPr sz="1800"/>
                      </a:pPr>
                      <a:r>
                        <a:rPr b="1" sz="1300">
                          <a:solidFill>
                            <a:srgbClr val="FFFFFF"/>
                          </a:solidFill>
                          <a:sym typeface="Arial"/>
                        </a:rPr>
                        <a:t>3. Architect and Design for Security Policies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300">
                          <a:solidFill>
                            <a:srgbClr val="FFFFFF"/>
                          </a:solidFill>
                          <a:sym typeface="Arial"/>
                        </a:rPr>
                        <a:t>STD-005, STD-007, STD-008, STD-010</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338074">
                <a:tc>
                  <a:txBody>
                    <a:bodyPr/>
                    <a:lstStyle/>
                    <a:p>
                      <a:pPr algn="l">
                        <a:defRPr sz="1800"/>
                      </a:pPr>
                      <a:r>
                        <a:rPr b="1" sz="1300">
                          <a:solidFill>
                            <a:srgbClr val="FFFFFF"/>
                          </a:solidFill>
                          <a:sym typeface="Arial"/>
                        </a:rPr>
                        <a:t>4. Keep It Simple</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300">
                          <a:solidFill>
                            <a:srgbClr val="FFFFFF"/>
                          </a:solidFill>
                          <a:sym typeface="Arial"/>
                        </a:rPr>
                        <a:t>STD-003, STD-005, STD-008, STD-010</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r h="338074">
                <a:tc>
                  <a:txBody>
                    <a:bodyPr/>
                    <a:lstStyle/>
                    <a:p>
                      <a:pPr algn="l">
                        <a:defRPr sz="1800"/>
                      </a:pPr>
                      <a:r>
                        <a:rPr b="1" sz="1300">
                          <a:solidFill>
                            <a:srgbClr val="FFFFFF"/>
                          </a:solidFill>
                          <a:sym typeface="Arial"/>
                        </a:rPr>
                        <a:t>5. Default Deny</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300">
                          <a:solidFill>
                            <a:srgbClr val="FFFFFF"/>
                          </a:solidFill>
                          <a:sym typeface="Arial"/>
                        </a:rPr>
                        <a:t>STD-004</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338074">
                <a:tc>
                  <a:txBody>
                    <a:bodyPr/>
                    <a:lstStyle/>
                    <a:p>
                      <a:pPr algn="l">
                        <a:defRPr sz="1800"/>
                      </a:pPr>
                      <a:r>
                        <a:rPr b="1" sz="1300">
                          <a:solidFill>
                            <a:srgbClr val="FFFFFF"/>
                          </a:solidFill>
                          <a:sym typeface="Arial"/>
                        </a:rPr>
                        <a:t>6. Adhere to the Principle of Least Privilege</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300">
                          <a:solidFill>
                            <a:srgbClr val="FFFFFF"/>
                          </a:solidFill>
                          <a:sym typeface="Arial"/>
                        </a:rPr>
                        <a:t>STD-004</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r h="338074">
                <a:tc>
                  <a:txBody>
                    <a:bodyPr/>
                    <a:lstStyle/>
                    <a:p>
                      <a:pPr algn="l">
                        <a:defRPr sz="1800"/>
                      </a:pPr>
                      <a:r>
                        <a:rPr b="1" sz="1300">
                          <a:solidFill>
                            <a:srgbClr val="FFFFFF"/>
                          </a:solidFill>
                          <a:sym typeface="Arial"/>
                        </a:rPr>
                        <a:t>7. Sanitize Data Sent to Other Systems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300">
                          <a:solidFill>
                            <a:srgbClr val="FFFFFF"/>
                          </a:solidFill>
                          <a:sym typeface="Arial"/>
                        </a:rPr>
                        <a:t>STD-004</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338074">
                <a:tc>
                  <a:txBody>
                    <a:bodyPr/>
                    <a:lstStyle/>
                    <a:p>
                      <a:pPr algn="l">
                        <a:defRPr sz="1800"/>
                      </a:pPr>
                      <a:r>
                        <a:rPr b="1" sz="1300">
                          <a:solidFill>
                            <a:srgbClr val="FFFFFF"/>
                          </a:solidFill>
                          <a:sym typeface="Arial"/>
                        </a:rPr>
                        <a:t>8. Practice Defense in Depth</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300">
                          <a:solidFill>
                            <a:srgbClr val="FFFFFF"/>
                          </a:solidFill>
                          <a:sym typeface="Arial"/>
                        </a:rPr>
                        <a:t>STD-003, STD-004, STD-007, STD-010</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r h="338074">
                <a:tc>
                  <a:txBody>
                    <a:bodyPr/>
                    <a:lstStyle/>
                    <a:p>
                      <a:pPr algn="l">
                        <a:defRPr sz="1800"/>
                      </a:pPr>
                      <a:r>
                        <a:rPr b="1" sz="1300">
                          <a:solidFill>
                            <a:srgbClr val="FFFFFF"/>
                          </a:solidFill>
                          <a:sym typeface="Arial"/>
                        </a:rPr>
                        <a:t>9. Use Effective Quality Assurance Techniques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300">
                          <a:solidFill>
                            <a:srgbClr val="FFFFFF"/>
                          </a:solidFill>
                          <a:sym typeface="Arial"/>
                        </a:rPr>
                        <a:t>STD-002, STD-005, STD-006, STD-007, STD-008, STD-009</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338074">
                <a:tc>
                  <a:txBody>
                    <a:bodyPr/>
                    <a:lstStyle/>
                    <a:p>
                      <a:pPr algn="l">
                        <a:defRPr sz="1800"/>
                      </a:pPr>
                      <a:r>
                        <a:rPr b="1" sz="1300">
                          <a:solidFill>
                            <a:srgbClr val="FFFFFF"/>
                          </a:solidFill>
                          <a:sym typeface="Arial"/>
                        </a:rPr>
                        <a:t>10. Adopt a Secure Coding Standard</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300">
                          <a:solidFill>
                            <a:srgbClr val="FFFFFF"/>
                          </a:solidFill>
                          <a:sym typeface="Arial"/>
                        </a:rPr>
                        <a:t>STD-001, STD-006</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bl>
          </a:graphicData>
        </a:graphic>
      </p:graphicFrame>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Google Shape;174;p6"/>
          <p:cNvSpPr txBox="1"/>
          <p:nvPr>
            <p:ph type="title"/>
          </p:nvPr>
        </p:nvSpPr>
        <p:spPr>
          <a:xfrm>
            <a:off x="2895600" y="764373"/>
            <a:ext cx="8610600" cy="1293028"/>
          </a:xfrm>
          <a:prstGeom prst="rect">
            <a:avLst/>
          </a:prstGeom>
        </p:spPr>
        <p:txBody>
          <a:bodyPr/>
          <a:lstStyle/>
          <a:p>
            <a:pPr/>
            <a:r>
              <a:t>CODING STANDARDS</a:t>
            </a:r>
          </a:p>
        </p:txBody>
      </p:sp>
      <p:pic>
        <p:nvPicPr>
          <p:cNvPr id="218" name="Google Shape;176;p6" descr="Google Shape;176;p6"/>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graphicFrame>
        <p:nvGraphicFramePr>
          <p:cNvPr id="219" name="Coding standards priority table 2005"/>
          <p:cNvGraphicFramePr/>
          <p:nvPr/>
        </p:nvGraphicFramePr>
        <p:xfrm>
          <a:off x="685800" y="2103120"/>
          <a:ext cx="7498081" cy="362102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411480"/>
                <a:gridCol w="1325880"/>
                <a:gridCol w="5074920"/>
                <a:gridCol w="685800"/>
              </a:tblGrid>
              <a:tr h="329184">
                <a:tc>
                  <a:txBody>
                    <a:bodyPr/>
                    <a:lstStyle/>
                    <a:p>
                      <a:pPr algn="l">
                        <a:defRPr sz="1800"/>
                      </a:pPr>
                      <a:r>
                        <a:rPr b="1" sz="1200">
                          <a:solidFill>
                            <a:srgbClr val="FFFFFF"/>
                          </a:solidFill>
                          <a:sym typeface="Arial"/>
                        </a:rPr>
                        <a:t>#</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3E6B23"/>
                    </a:solidFill>
                  </a:tcPr>
                </a:tc>
                <a:tc>
                  <a:txBody>
                    <a:bodyPr/>
                    <a:lstStyle/>
                    <a:p>
                      <a:pPr algn="l">
                        <a:defRPr sz="1800"/>
                      </a:pPr>
                      <a:r>
                        <a:rPr b="1" sz="1200">
                          <a:solidFill>
                            <a:srgbClr val="FFFFFF"/>
                          </a:solidFill>
                          <a:sym typeface="Arial"/>
                        </a:rPr>
                        <a:t>Standard</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3E6B23"/>
                    </a:solidFill>
                  </a:tcPr>
                </a:tc>
                <a:tc>
                  <a:txBody>
                    <a:bodyPr/>
                    <a:lstStyle/>
                    <a:p>
                      <a:pPr algn="l">
                        <a:defRPr sz="1800"/>
                      </a:pPr>
                      <a:r>
                        <a:rPr b="1" sz="1200">
                          <a:solidFill>
                            <a:srgbClr val="FFFFFF"/>
                          </a:solidFill>
                          <a:sym typeface="Arial"/>
                        </a:rPr>
                        <a:t>Name</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3E6B23"/>
                    </a:solidFill>
                  </a:tcPr>
                </a:tc>
                <a:tc>
                  <a:txBody>
                    <a:bodyPr/>
                    <a:lstStyle/>
                    <a:p>
                      <a:pPr algn="l">
                        <a:defRPr sz="1800"/>
                      </a:pPr>
                      <a:r>
                        <a:rPr b="1" sz="1200">
                          <a:solidFill>
                            <a:srgbClr val="FFFFFF"/>
                          </a:solidFill>
                          <a:sym typeface="Arial"/>
                        </a:rPr>
                        <a:t>Level</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3E6B23"/>
                    </a:solidFill>
                  </a:tcPr>
                </a:tc>
              </a:tr>
              <a:tr h="329184">
                <a:tc>
                  <a:txBody>
                    <a:bodyPr/>
                    <a:lstStyle/>
                    <a:p>
                      <a:pPr algn="l">
                        <a:defRPr sz="1800"/>
                      </a:pPr>
                      <a:r>
                        <a:rPr sz="1200">
                          <a:solidFill>
                            <a:srgbClr val="FFFFFF"/>
                          </a:solidFill>
                          <a:sym typeface="Arial"/>
                        </a:rPr>
                        <a:t>1</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STD-003-CPP</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Guarantee Sufficient Storage for String Data</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5</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329184">
                <a:tc>
                  <a:txBody>
                    <a:bodyPr/>
                    <a:lstStyle/>
                    <a:p>
                      <a:pPr algn="l">
                        <a:defRPr sz="1800"/>
                      </a:pPr>
                      <a:r>
                        <a:rPr sz="1200">
                          <a:solidFill>
                            <a:srgbClr val="FFFFFF"/>
                          </a:solidFill>
                          <a:sym typeface="Arial"/>
                        </a:rPr>
                        <a:t>2</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STD-004-CPP</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Validate and Sanitize External Input Before It Builds a Command</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5</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r h="329184">
                <a:tc>
                  <a:txBody>
                    <a:bodyPr/>
                    <a:lstStyle/>
                    <a:p>
                      <a:pPr algn="l">
                        <a:defRPr sz="1800"/>
                      </a:pPr>
                      <a:r>
                        <a:rPr sz="1200">
                          <a:solidFill>
                            <a:srgbClr val="FFFFFF"/>
                          </a:solidFill>
                          <a:sym typeface="Arial"/>
                        </a:rPr>
                        <a:t>3</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STD-005-CPP</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Do Not Access Freed Memory</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5</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329184">
                <a:tc>
                  <a:txBody>
                    <a:bodyPr/>
                    <a:lstStyle/>
                    <a:p>
                      <a:pPr algn="l">
                        <a:defRPr sz="1800"/>
                      </a:pPr>
                      <a:r>
                        <a:rPr sz="1200">
                          <a:solidFill>
                            <a:srgbClr val="FFFFFF"/>
                          </a:solidFill>
                          <a:sym typeface="Arial"/>
                        </a:rPr>
                        <a:t>4</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STD-008-CPP</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Properly Deallocate Dynamically Allocated Resources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5</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r h="329184">
                <a:tc>
                  <a:txBody>
                    <a:bodyPr/>
                    <a:lstStyle/>
                    <a:p>
                      <a:pPr algn="l">
                        <a:defRPr sz="1800"/>
                      </a:pPr>
                      <a:r>
                        <a:rPr sz="1200">
                          <a:solidFill>
                            <a:srgbClr val="FFFFFF"/>
                          </a:solidFill>
                          <a:sym typeface="Arial"/>
                        </a:rPr>
                        <a:t>5</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STD-002-CPP</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Prevent Signed Integer Overflow</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4</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329184">
                <a:tc>
                  <a:txBody>
                    <a:bodyPr/>
                    <a:lstStyle/>
                    <a:p>
                      <a:pPr algn="l">
                        <a:defRPr sz="1800"/>
                      </a:pPr>
                      <a:r>
                        <a:rPr sz="1200">
                          <a:solidFill>
                            <a:srgbClr val="FFFFFF"/>
                          </a:solidFill>
                          <a:sym typeface="Arial"/>
                        </a:rPr>
                        <a:t>6</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STD-009-CPP</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Ensure Unsigned Integer Operations Do Not Wrap</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4</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r h="329184">
                <a:tc>
                  <a:txBody>
                    <a:bodyPr/>
                    <a:lstStyle/>
                    <a:p>
                      <a:pPr algn="l">
                        <a:defRPr sz="1800"/>
                      </a:pPr>
                      <a:r>
                        <a:rPr sz="1200">
                          <a:solidFill>
                            <a:srgbClr val="FFFFFF"/>
                          </a:solidFill>
                          <a:sym typeface="Arial"/>
                        </a:rPr>
                        <a:t>7</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STD-001-CPP</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Prevent Data Loss From Unsafe Integer Conversions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3</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329184">
                <a:tc>
                  <a:txBody>
                    <a:bodyPr/>
                    <a:lstStyle/>
                    <a:p>
                      <a:pPr algn="l">
                        <a:defRPr sz="1800"/>
                      </a:pPr>
                      <a:r>
                        <a:rPr sz="1200">
                          <a:solidFill>
                            <a:srgbClr val="FFFFFF"/>
                          </a:solidFill>
                          <a:sym typeface="Arial"/>
                        </a:rPr>
                        <a:t>8</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STD-007-CPP</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Handle All Exceptions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2</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r h="329184">
                <a:tc>
                  <a:txBody>
                    <a:bodyPr/>
                    <a:lstStyle/>
                    <a:p>
                      <a:pPr algn="l">
                        <a:defRPr sz="1800"/>
                      </a:pPr>
                      <a:r>
                        <a:rPr sz="1200">
                          <a:solidFill>
                            <a:srgbClr val="FFFFFF"/>
                          </a:solidFill>
                          <a:sym typeface="Arial"/>
                        </a:rPr>
                        <a:t>9</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STD-010-CPP</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Do Not Leak Resources When Handling Exceptions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2</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329184">
                <a:tc>
                  <a:txBody>
                    <a:bodyPr/>
                    <a:lstStyle/>
                    <a:p>
                      <a:pPr algn="l">
                        <a:defRPr sz="1800"/>
                      </a:pPr>
                      <a:r>
                        <a:rPr sz="1200">
                          <a:solidFill>
                            <a:srgbClr val="FFFFFF"/>
                          </a:solidFill>
                          <a:sym typeface="Arial"/>
                        </a:rPr>
                        <a:t>10</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STD-006-CPP</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Use a Static Assertion to Test Constant Expressions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1</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bl>
          </a:graphicData>
        </a:graphic>
      </p:graphicFrame>
      <p:grpSp>
        <p:nvGrpSpPr>
          <p:cNvPr id="222" name="Ranking explanation 2006"/>
          <p:cNvGrpSpPr/>
          <p:nvPr/>
        </p:nvGrpSpPr>
        <p:grpSpPr>
          <a:xfrm>
            <a:off x="8412480" y="2103120"/>
            <a:ext cx="2606041" cy="3291841"/>
            <a:chOff x="0" y="0"/>
            <a:chExt cx="2606039" cy="3291840"/>
          </a:xfrm>
        </p:grpSpPr>
        <p:sp>
          <p:nvSpPr>
            <p:cNvPr id="220" name="Rounded Rectangle"/>
            <p:cNvSpPr/>
            <p:nvPr/>
          </p:nvSpPr>
          <p:spPr>
            <a:xfrm>
              <a:off x="0" y="0"/>
              <a:ext cx="2606040" cy="3291841"/>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p>
          </p:txBody>
        </p:sp>
        <p:sp>
          <p:nvSpPr>
            <p:cNvPr id="221" name="My ranking system…"/>
            <p:cNvSpPr txBox="1"/>
            <p:nvPr/>
          </p:nvSpPr>
          <p:spPr>
            <a:xfrm>
              <a:off x="45796" y="45796"/>
              <a:ext cx="2514448" cy="322506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p>
              <a:pPr>
                <a:spcBef>
                  <a:spcPts val="400"/>
                </a:spcBef>
                <a:defRPr b="1">
                  <a:solidFill>
                    <a:srgbClr val="8DC63F"/>
                  </a:solidFill>
                </a:defRPr>
              </a:pPr>
              <a:r>
                <a:t>My ranking system</a:t>
              </a:r>
            </a:p>
            <a:p>
              <a:pPr marL="285750" indent="-285750">
                <a:spcBef>
                  <a:spcPts val="400"/>
                </a:spcBef>
                <a:buClr>
                  <a:srgbClr val="8DC63F"/>
                </a:buClr>
                <a:buSzPct val="100000"/>
                <a:buFont typeface="Arial"/>
                <a:buChar char="•"/>
                <a:defRPr>
                  <a:solidFill>
                    <a:srgbClr val="FFFFFF"/>
                  </a:solidFill>
                </a:defRPr>
              </a:pPr>
              <a:r>
                <a:t>Level 1 to 5, built from each rule's SEI CERT severity, likelihood and remediation cost</a:t>
              </a:r>
            </a:p>
            <a:p>
              <a:pPr marL="285750" indent="-285750">
                <a:spcBef>
                  <a:spcPts val="400"/>
                </a:spcBef>
                <a:buClr>
                  <a:srgbClr val="8DC63F"/>
                </a:buClr>
                <a:buSzPct val="100000"/>
                <a:buFont typeface="Arial"/>
                <a:buChar char="•"/>
                <a:defRPr>
                  <a:solidFill>
                    <a:srgbClr val="FFFFFF"/>
                  </a:solidFill>
                </a:defRPr>
              </a:pPr>
              <a:r>
                <a:t>Level 5 means high severity and likely, where an attacker could run code or steal data</a:t>
              </a:r>
            </a:p>
            <a:p>
              <a:pPr marL="285750" indent="-285750">
                <a:spcBef>
                  <a:spcPts val="400"/>
                </a:spcBef>
                <a:buClr>
                  <a:srgbClr val="8DC63F"/>
                </a:buClr>
                <a:buSzPct val="100000"/>
                <a:buFont typeface="Arial"/>
                <a:buChar char="•"/>
                <a:defRPr>
                  <a:solidFill>
                    <a:srgbClr val="FFFFFF"/>
                  </a:solidFill>
                </a:defRPr>
              </a:pPr>
              <a:r>
                <a:t>Ties go to whichever bug outside input can reach most directly</a:t>
              </a:r>
            </a:p>
            <a:p>
              <a:pPr marL="285750" indent="-285750">
                <a:buClr>
                  <a:srgbClr val="8DC63F"/>
                </a:buClr>
                <a:buSzPct val="100000"/>
                <a:buFont typeface="Arial"/>
                <a:buChar char="•"/>
                <a:defRPr>
                  <a:solidFill>
                    <a:srgbClr val="FFFFFF"/>
                  </a:solidFill>
                </a:defRPr>
              </a:pPr>
              <a:r>
                <a:t>Any Level 4 or 5 finding fails the build</a:t>
              </a:r>
            </a:p>
          </p:txBody>
        </p:sp>
      </p:gr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Google Shape;181;p7"/>
          <p:cNvSpPr txBox="1"/>
          <p:nvPr>
            <p:ph type="title"/>
          </p:nvPr>
        </p:nvSpPr>
        <p:spPr>
          <a:xfrm>
            <a:off x="2895600" y="764373"/>
            <a:ext cx="8610600" cy="1293028"/>
          </a:xfrm>
          <a:prstGeom prst="rect">
            <a:avLst/>
          </a:prstGeom>
        </p:spPr>
        <p:txBody>
          <a:bodyPr/>
          <a:lstStyle/>
          <a:p>
            <a:pPr/>
            <a:r>
              <a:t>ENCRYPTION POLICIES</a:t>
            </a:r>
          </a:p>
        </p:txBody>
      </p:sp>
      <p:pic>
        <p:nvPicPr>
          <p:cNvPr id="225" name="Google Shape;183;p7" descr="Google Shape;183;p7"/>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grpSp>
        <p:nvGrpSpPr>
          <p:cNvPr id="228" name="Encryption At Rest 2007"/>
          <p:cNvGrpSpPr/>
          <p:nvPr/>
        </p:nvGrpSpPr>
        <p:grpSpPr>
          <a:xfrm>
            <a:off x="685800" y="2148839"/>
            <a:ext cx="3246121" cy="2834641"/>
            <a:chOff x="0" y="0"/>
            <a:chExt cx="3246120" cy="2834639"/>
          </a:xfrm>
        </p:grpSpPr>
        <p:sp>
          <p:nvSpPr>
            <p:cNvPr id="226" name="Rounded Rectangle"/>
            <p:cNvSpPr/>
            <p:nvPr/>
          </p:nvSpPr>
          <p:spPr>
            <a:xfrm>
              <a:off x="0" y="0"/>
              <a:ext cx="3246121" cy="2834640"/>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spcBef>
                  <a:spcPts val="500"/>
                </a:spcBef>
              </a:pPr>
            </a:p>
          </p:txBody>
        </p:sp>
        <p:sp>
          <p:nvSpPr>
            <p:cNvPr id="227" name="At Rest…"/>
            <p:cNvSpPr txBox="1"/>
            <p:nvPr/>
          </p:nvSpPr>
          <p:spPr>
            <a:xfrm>
              <a:off x="49813" y="49813"/>
              <a:ext cx="3146494" cy="22643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8871" tIns="118871" rIns="118871" bIns="118871" numCol="1" anchor="t">
              <a:spAutoFit/>
            </a:bodyPr>
            <a:lstStyle/>
            <a:p>
              <a:pPr>
                <a:spcBef>
                  <a:spcPts val="400"/>
                </a:spcBef>
                <a:defRPr b="1" sz="1800">
                  <a:solidFill>
                    <a:srgbClr val="8DC63F"/>
                  </a:solidFill>
                </a:defRPr>
              </a:pPr>
              <a:r>
                <a:t>At Rest</a:t>
              </a:r>
            </a:p>
            <a:p>
              <a:pPr marL="285750" indent="-285750">
                <a:spcBef>
                  <a:spcPts val="500"/>
                </a:spcBef>
                <a:buClr>
                  <a:srgbClr val="8DC63F"/>
                </a:buClr>
                <a:buSzPct val="100000"/>
                <a:buFont typeface="Arial"/>
                <a:buChar char="•"/>
                <a:defRPr sz="1300">
                  <a:solidFill>
                    <a:srgbClr val="FFFFFF"/>
                  </a:solidFill>
                </a:defRPr>
              </a:pPr>
              <a:r>
                <a:t>Protects stored data like databases, backups and laptops</a:t>
              </a:r>
            </a:p>
            <a:p>
              <a:pPr marL="285750" indent="-285750">
                <a:spcBef>
                  <a:spcPts val="500"/>
                </a:spcBef>
                <a:buClr>
                  <a:srgbClr val="8DC63F"/>
                </a:buClr>
                <a:buSzPct val="100000"/>
                <a:buFont typeface="Arial"/>
                <a:buChar char="•"/>
                <a:defRPr sz="1300">
                  <a:solidFill>
                    <a:srgbClr val="FFFFFF"/>
                  </a:solidFill>
                </a:defRPr>
              </a:pPr>
              <a:r>
                <a:t>AES-256 and full disk encryption, keys in a key management service</a:t>
              </a:r>
            </a:p>
            <a:p>
              <a:pPr marL="285750" indent="-285750">
                <a:spcBef>
                  <a:spcPts val="500"/>
                </a:spcBef>
                <a:buClr>
                  <a:srgbClr val="8DC63F"/>
                </a:buClr>
                <a:buSzPct val="100000"/>
                <a:buFont typeface="Arial"/>
                <a:buChar char="•"/>
                <a:defRPr sz="1300">
                  <a:solidFill>
                    <a:srgbClr val="FFFFFF"/>
                  </a:solidFill>
                </a:defRPr>
              </a:pPr>
              <a:r>
                <a:t>Applies any time sensitive data gets saved</a:t>
              </a:r>
            </a:p>
            <a:p>
              <a:pPr marL="285750" indent="-285750">
                <a:spcBef>
                  <a:spcPts val="500"/>
                </a:spcBef>
                <a:buClr>
                  <a:srgbClr val="8DC63F"/>
                </a:buClr>
                <a:buSzPct val="100000"/>
                <a:buFont typeface="Arial"/>
                <a:buChar char="•"/>
                <a:defRPr sz="1300">
                  <a:solidFill>
                    <a:srgbClr val="FFFFFF"/>
                  </a:solidFill>
                </a:defRPr>
              </a:pPr>
              <a:r>
                <a:t>Example: a stolen backup or laptop is useless without the key</a:t>
              </a:r>
            </a:p>
          </p:txBody>
        </p:sp>
      </p:grpSp>
      <p:grpSp>
        <p:nvGrpSpPr>
          <p:cNvPr id="231" name="Encryption In Flight 2008"/>
          <p:cNvGrpSpPr/>
          <p:nvPr/>
        </p:nvGrpSpPr>
        <p:grpSpPr>
          <a:xfrm>
            <a:off x="4160520" y="2148839"/>
            <a:ext cx="3246121" cy="2834641"/>
            <a:chOff x="0" y="0"/>
            <a:chExt cx="3246120" cy="2834639"/>
          </a:xfrm>
        </p:grpSpPr>
        <p:sp>
          <p:nvSpPr>
            <p:cNvPr id="229" name="Rounded Rectangle"/>
            <p:cNvSpPr/>
            <p:nvPr/>
          </p:nvSpPr>
          <p:spPr>
            <a:xfrm>
              <a:off x="0" y="0"/>
              <a:ext cx="3246121" cy="2834640"/>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spcBef>
                  <a:spcPts val="500"/>
                </a:spcBef>
              </a:pPr>
            </a:p>
          </p:txBody>
        </p:sp>
        <p:sp>
          <p:nvSpPr>
            <p:cNvPr id="230" name="In Flight…"/>
            <p:cNvSpPr txBox="1"/>
            <p:nvPr/>
          </p:nvSpPr>
          <p:spPr>
            <a:xfrm>
              <a:off x="49813" y="49813"/>
              <a:ext cx="3146494" cy="24548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8871" tIns="118871" rIns="118871" bIns="118871" numCol="1" anchor="t">
              <a:spAutoFit/>
            </a:bodyPr>
            <a:lstStyle/>
            <a:p>
              <a:pPr>
                <a:spcBef>
                  <a:spcPts val="400"/>
                </a:spcBef>
                <a:defRPr b="1" sz="1800">
                  <a:solidFill>
                    <a:srgbClr val="8DC63F"/>
                  </a:solidFill>
                </a:defRPr>
              </a:pPr>
              <a:r>
                <a:t>In Flight</a:t>
              </a:r>
            </a:p>
            <a:p>
              <a:pPr marL="285750" indent="-285750">
                <a:spcBef>
                  <a:spcPts val="500"/>
                </a:spcBef>
                <a:buClr>
                  <a:srgbClr val="8DC63F"/>
                </a:buClr>
                <a:buSzPct val="100000"/>
                <a:buFont typeface="Arial"/>
                <a:buChar char="•"/>
                <a:defRPr sz="1300">
                  <a:solidFill>
                    <a:srgbClr val="FFFFFF"/>
                  </a:solidFill>
                </a:defRPr>
              </a:pPr>
              <a:r>
                <a:t>Protects data moving between systems</a:t>
              </a:r>
            </a:p>
            <a:p>
              <a:pPr marL="285750" indent="-285750">
                <a:spcBef>
                  <a:spcPts val="500"/>
                </a:spcBef>
                <a:buClr>
                  <a:srgbClr val="8DC63F"/>
                </a:buClr>
                <a:buSzPct val="100000"/>
                <a:buFont typeface="Arial"/>
                <a:buChar char="•"/>
                <a:defRPr sz="1300">
                  <a:solidFill>
                    <a:srgbClr val="FFFFFF"/>
                  </a:solidFill>
                </a:defRPr>
              </a:pPr>
              <a:r>
                <a:t>TLS 1.2 or newer and HTTPS everywhere, plain HTTP and SSL turned off</a:t>
              </a:r>
            </a:p>
            <a:p>
              <a:pPr marL="285750" indent="-285750">
                <a:spcBef>
                  <a:spcPts val="500"/>
                </a:spcBef>
                <a:buClr>
                  <a:srgbClr val="8DC63F"/>
                </a:buClr>
                <a:buSzPct val="100000"/>
                <a:buFont typeface="Arial"/>
                <a:buChar char="•"/>
                <a:defRPr sz="1300">
                  <a:solidFill>
                    <a:srgbClr val="FFFFFF"/>
                  </a:solidFill>
                </a:defRPr>
              </a:pPr>
              <a:r>
                <a:t>Applies to every connection even inside our own network</a:t>
              </a:r>
            </a:p>
            <a:p>
              <a:pPr marL="285750" indent="-285750">
                <a:spcBef>
                  <a:spcPts val="500"/>
                </a:spcBef>
                <a:buClr>
                  <a:srgbClr val="8DC63F"/>
                </a:buClr>
                <a:buSzPct val="100000"/>
                <a:buFont typeface="Arial"/>
                <a:buChar char="•"/>
                <a:defRPr sz="1300">
                  <a:solidFill>
                    <a:srgbClr val="FFFFFF"/>
                  </a:solidFill>
                </a:defRPr>
              </a:pPr>
              <a:r>
                <a:t>Example: a customerspassword can't be sniffed while they log in</a:t>
              </a:r>
            </a:p>
          </p:txBody>
        </p:sp>
      </p:grpSp>
      <p:grpSp>
        <p:nvGrpSpPr>
          <p:cNvPr id="234" name="Encryption In Use 2009"/>
          <p:cNvGrpSpPr/>
          <p:nvPr/>
        </p:nvGrpSpPr>
        <p:grpSpPr>
          <a:xfrm>
            <a:off x="7635240" y="2148839"/>
            <a:ext cx="3246121" cy="2834641"/>
            <a:chOff x="0" y="0"/>
            <a:chExt cx="3246120" cy="2834639"/>
          </a:xfrm>
        </p:grpSpPr>
        <p:sp>
          <p:nvSpPr>
            <p:cNvPr id="232" name="Rounded Rectangle"/>
            <p:cNvSpPr/>
            <p:nvPr/>
          </p:nvSpPr>
          <p:spPr>
            <a:xfrm>
              <a:off x="0" y="0"/>
              <a:ext cx="3246121" cy="2834640"/>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spcBef>
                  <a:spcPts val="500"/>
                </a:spcBef>
              </a:pPr>
            </a:p>
          </p:txBody>
        </p:sp>
        <p:sp>
          <p:nvSpPr>
            <p:cNvPr id="233" name="In Use…"/>
            <p:cNvSpPr txBox="1"/>
            <p:nvPr/>
          </p:nvSpPr>
          <p:spPr>
            <a:xfrm>
              <a:off x="49813" y="49813"/>
              <a:ext cx="3146494" cy="26453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8871" tIns="118871" rIns="118871" bIns="118871" numCol="1" anchor="t">
              <a:spAutoFit/>
            </a:bodyPr>
            <a:lstStyle/>
            <a:p>
              <a:pPr>
                <a:spcBef>
                  <a:spcPts val="400"/>
                </a:spcBef>
                <a:defRPr b="1" sz="1800">
                  <a:solidFill>
                    <a:srgbClr val="8DC63F"/>
                  </a:solidFill>
                </a:defRPr>
              </a:pPr>
              <a:r>
                <a:t>In Use</a:t>
              </a:r>
            </a:p>
            <a:p>
              <a:pPr marL="285750" indent="-285750">
                <a:spcBef>
                  <a:spcPts val="500"/>
                </a:spcBef>
                <a:buClr>
                  <a:srgbClr val="8DC63F"/>
                </a:buClr>
                <a:buSzPct val="100000"/>
                <a:buFont typeface="Arial"/>
                <a:buChar char="•"/>
                <a:defRPr sz="1300">
                  <a:solidFill>
                    <a:srgbClr val="FFFFFF"/>
                  </a:solidFill>
                </a:defRPr>
              </a:pPr>
              <a:r>
                <a:t>Protects data while it's being processed in memory</a:t>
              </a:r>
            </a:p>
            <a:p>
              <a:pPr marL="285750" indent="-285750">
                <a:spcBef>
                  <a:spcPts val="500"/>
                </a:spcBef>
                <a:buClr>
                  <a:srgbClr val="8DC63F"/>
                </a:buClr>
                <a:buSzPct val="100000"/>
                <a:buFont typeface="Arial"/>
                <a:buChar char="•"/>
                <a:defRPr sz="1300">
                  <a:solidFill>
                    <a:srgbClr val="FFFFFF"/>
                  </a:solidFill>
                </a:defRPr>
              </a:pPr>
              <a:r>
                <a:t>Decrypt for as short as possible, clear memory after use, secure enclaves in the cloud</a:t>
              </a:r>
            </a:p>
            <a:p>
              <a:pPr marL="285750" indent="-285750">
                <a:spcBef>
                  <a:spcPts val="500"/>
                </a:spcBef>
                <a:buClr>
                  <a:srgbClr val="8DC63F"/>
                </a:buClr>
                <a:buSzPct val="100000"/>
                <a:buFont typeface="Arial"/>
                <a:buChar char="•"/>
                <a:defRPr sz="1300">
                  <a:solidFill>
                    <a:srgbClr val="FFFFFF"/>
                  </a:solidFill>
                </a:defRPr>
              </a:pPr>
              <a:r>
                <a:t>Applies when apps handle passwords, keys, or payments</a:t>
              </a:r>
            </a:p>
            <a:p>
              <a:pPr marL="285750" indent="-285750">
                <a:spcBef>
                  <a:spcPts val="500"/>
                </a:spcBef>
                <a:buClr>
                  <a:srgbClr val="8DC63F"/>
                </a:buClr>
                <a:buSzPct val="100000"/>
                <a:buFont typeface="Arial"/>
                <a:buChar char="•"/>
                <a:defRPr sz="1300">
                  <a:solidFill>
                    <a:srgbClr val="FFFFFF"/>
                  </a:solidFill>
                </a:defRPr>
              </a:pPr>
              <a:r>
                <a:t>Example: ties to STD-003 and STD-005 since memory bugs can leak this data</a:t>
              </a:r>
            </a:p>
          </p:txBody>
        </p:sp>
      </p:gr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Google Shape;188;p8"/>
          <p:cNvSpPr txBox="1"/>
          <p:nvPr>
            <p:ph type="title"/>
          </p:nvPr>
        </p:nvSpPr>
        <p:spPr>
          <a:xfrm>
            <a:off x="2895600" y="764373"/>
            <a:ext cx="8610600" cy="1293028"/>
          </a:xfrm>
          <a:prstGeom prst="rect">
            <a:avLst/>
          </a:prstGeom>
        </p:spPr>
        <p:txBody>
          <a:bodyPr/>
          <a:lstStyle/>
          <a:p>
            <a:pPr/>
            <a:r>
              <a:t>TRIPLE-A POLICIES</a:t>
            </a:r>
          </a:p>
        </p:txBody>
      </p:sp>
      <p:pic>
        <p:nvPicPr>
          <p:cNvPr id="237" name="Google Shape;190;p8" descr="Google Shape;190;p8"/>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grpSp>
        <p:nvGrpSpPr>
          <p:cNvPr id="240" name="Authentication label 2010"/>
          <p:cNvGrpSpPr/>
          <p:nvPr/>
        </p:nvGrpSpPr>
        <p:grpSpPr>
          <a:xfrm>
            <a:off x="685800" y="2148839"/>
            <a:ext cx="2377440" cy="960121"/>
            <a:chOff x="0" y="0"/>
            <a:chExt cx="2377439" cy="960119"/>
          </a:xfrm>
        </p:grpSpPr>
        <p:sp>
          <p:nvSpPr>
            <p:cNvPr id="238" name="Rounded Rectangle"/>
            <p:cNvSpPr/>
            <p:nvPr/>
          </p:nvSpPr>
          <p:spPr>
            <a:xfrm>
              <a:off x="0" y="0"/>
              <a:ext cx="2377440" cy="960120"/>
            </a:xfrm>
            <a:prstGeom prst="roundRect">
              <a:avLst>
                <a:gd name="adj" fmla="val 6000"/>
              </a:avLst>
            </a:prstGeom>
            <a:solidFill>
              <a:srgbClr val="3E6B23"/>
            </a:solidFill>
            <a:ln w="12700" cap="flat">
              <a:noFill/>
              <a:miter lim="400000"/>
            </a:ln>
            <a:effectLst/>
          </p:spPr>
          <p:txBody>
            <a:bodyPr wrap="square" lIns="45719" tIns="45719" rIns="45719" bIns="45719" numCol="1" anchor="ctr">
              <a:noAutofit/>
            </a:bodyPr>
            <a:lstStyle/>
            <a:p>
              <a:pPr algn="ctr"/>
            </a:p>
          </p:txBody>
        </p:sp>
        <p:sp>
          <p:nvSpPr>
            <p:cNvPr id="239" name="Authentication"/>
            <p:cNvSpPr txBox="1"/>
            <p:nvPr/>
          </p:nvSpPr>
          <p:spPr>
            <a:xfrm>
              <a:off x="16873" y="265151"/>
              <a:ext cx="2343694" cy="4298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ctr">
              <a:spAutoFit/>
            </a:bodyPr>
            <a:lstStyle>
              <a:lvl1pPr algn="ctr">
                <a:defRPr b="1" sz="1700">
                  <a:solidFill>
                    <a:srgbClr val="FFFFFF"/>
                  </a:solidFill>
                </a:defRPr>
              </a:lvl1pPr>
            </a:lstStyle>
            <a:p>
              <a:pPr/>
              <a:r>
                <a:t>Authentication</a:t>
              </a:r>
            </a:p>
          </p:txBody>
        </p:sp>
      </p:grpSp>
      <p:grpSp>
        <p:nvGrpSpPr>
          <p:cNvPr id="243" name="Authentication policy 2011"/>
          <p:cNvGrpSpPr/>
          <p:nvPr/>
        </p:nvGrpSpPr>
        <p:grpSpPr>
          <a:xfrm>
            <a:off x="3200400" y="2148839"/>
            <a:ext cx="7726681" cy="960121"/>
            <a:chOff x="0" y="0"/>
            <a:chExt cx="7726680" cy="960119"/>
          </a:xfrm>
        </p:grpSpPr>
        <p:sp>
          <p:nvSpPr>
            <p:cNvPr id="241" name="Rounded Rectangle"/>
            <p:cNvSpPr/>
            <p:nvPr/>
          </p:nvSpPr>
          <p:spPr>
            <a:xfrm>
              <a:off x="0" y="0"/>
              <a:ext cx="7726681" cy="960120"/>
            </a:xfrm>
            <a:prstGeom prst="roundRect">
              <a:avLst>
                <a:gd name="adj" fmla="val 6000"/>
              </a:avLst>
            </a:prstGeom>
            <a:solidFill>
              <a:srgbClr val="1C1C1C"/>
            </a:solidFill>
            <a:ln w="12700" cap="flat">
              <a:noFill/>
              <a:miter lim="400000"/>
            </a:ln>
            <a:effectLst/>
          </p:spPr>
          <p:txBody>
            <a:bodyPr wrap="square" lIns="45719" tIns="45719" rIns="45719" bIns="45719" numCol="1" anchor="ctr">
              <a:noAutofit/>
            </a:bodyPr>
            <a:lstStyle/>
            <a:p>
              <a:pPr/>
            </a:p>
          </p:txBody>
        </p:sp>
        <p:sp>
          <p:nvSpPr>
            <p:cNvPr id="242" name="Proves who a user is. Every login goes through Active Directory with LDAP, multi factor authentication, lockout after failed attempts and salted password hashes. Adding a new user needs a verified request and manager approval."/>
            <p:cNvSpPr txBox="1"/>
            <p:nvPr/>
          </p:nvSpPr>
          <p:spPr>
            <a:xfrm>
              <a:off x="16872" y="105570"/>
              <a:ext cx="7692936" cy="7489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ctr">
              <a:spAutoFit/>
            </a:bodyPr>
            <a:lstStyle>
              <a:lvl1pPr>
                <a:defRPr sz="1300">
                  <a:solidFill>
                    <a:srgbClr val="FFFFFF"/>
                  </a:solidFill>
                </a:defRPr>
              </a:lvl1pPr>
            </a:lstStyle>
            <a:p>
              <a:pPr/>
              <a:r>
                <a:t>Proves who a user is. Every login goes through Active Directory with LDAP, multi factor authentication, lockout after failed attempts and salted password hashes. Adding a new user needs a verified request and manager approval.</a:t>
              </a:r>
            </a:p>
          </p:txBody>
        </p:sp>
      </p:grpSp>
      <p:grpSp>
        <p:nvGrpSpPr>
          <p:cNvPr id="246" name="Authorization label 2012"/>
          <p:cNvGrpSpPr/>
          <p:nvPr/>
        </p:nvGrpSpPr>
        <p:grpSpPr>
          <a:xfrm>
            <a:off x="685800" y="3264408"/>
            <a:ext cx="2377440" cy="960121"/>
            <a:chOff x="0" y="0"/>
            <a:chExt cx="2377439" cy="960119"/>
          </a:xfrm>
        </p:grpSpPr>
        <p:sp>
          <p:nvSpPr>
            <p:cNvPr id="244" name="Rounded Rectangle"/>
            <p:cNvSpPr/>
            <p:nvPr/>
          </p:nvSpPr>
          <p:spPr>
            <a:xfrm>
              <a:off x="0" y="0"/>
              <a:ext cx="2377440" cy="960120"/>
            </a:xfrm>
            <a:prstGeom prst="roundRect">
              <a:avLst>
                <a:gd name="adj" fmla="val 6000"/>
              </a:avLst>
            </a:prstGeom>
            <a:solidFill>
              <a:srgbClr val="3E6B23"/>
            </a:solidFill>
            <a:ln w="12700" cap="flat">
              <a:noFill/>
              <a:miter lim="400000"/>
            </a:ln>
            <a:effectLst/>
          </p:spPr>
          <p:txBody>
            <a:bodyPr wrap="square" lIns="45719" tIns="45719" rIns="45719" bIns="45719" numCol="1" anchor="ctr">
              <a:noAutofit/>
            </a:bodyPr>
            <a:lstStyle/>
            <a:p>
              <a:pPr algn="ctr"/>
            </a:p>
          </p:txBody>
        </p:sp>
        <p:sp>
          <p:nvSpPr>
            <p:cNvPr id="245" name="Authorization"/>
            <p:cNvSpPr txBox="1"/>
            <p:nvPr/>
          </p:nvSpPr>
          <p:spPr>
            <a:xfrm>
              <a:off x="16873" y="265151"/>
              <a:ext cx="2343694" cy="4298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ctr">
              <a:spAutoFit/>
            </a:bodyPr>
            <a:lstStyle>
              <a:lvl1pPr algn="ctr">
                <a:defRPr b="1" sz="1700">
                  <a:solidFill>
                    <a:srgbClr val="FFFFFF"/>
                  </a:solidFill>
                </a:defRPr>
              </a:lvl1pPr>
            </a:lstStyle>
            <a:p>
              <a:pPr/>
              <a:r>
                <a:t>Authorization</a:t>
              </a:r>
            </a:p>
          </p:txBody>
        </p:sp>
      </p:grpSp>
      <p:grpSp>
        <p:nvGrpSpPr>
          <p:cNvPr id="249" name="Authorization policy 2013"/>
          <p:cNvGrpSpPr/>
          <p:nvPr/>
        </p:nvGrpSpPr>
        <p:grpSpPr>
          <a:xfrm>
            <a:off x="3200400" y="3264408"/>
            <a:ext cx="7726681" cy="960121"/>
            <a:chOff x="0" y="0"/>
            <a:chExt cx="7726680" cy="960119"/>
          </a:xfrm>
        </p:grpSpPr>
        <p:sp>
          <p:nvSpPr>
            <p:cNvPr id="247" name="Rounded Rectangle"/>
            <p:cNvSpPr/>
            <p:nvPr/>
          </p:nvSpPr>
          <p:spPr>
            <a:xfrm>
              <a:off x="0" y="0"/>
              <a:ext cx="7726681" cy="960120"/>
            </a:xfrm>
            <a:prstGeom prst="roundRect">
              <a:avLst>
                <a:gd name="adj" fmla="val 6000"/>
              </a:avLst>
            </a:prstGeom>
            <a:solidFill>
              <a:srgbClr val="1C1C1C"/>
            </a:solidFill>
            <a:ln w="12700" cap="flat">
              <a:noFill/>
              <a:miter lim="400000"/>
            </a:ln>
            <a:effectLst/>
          </p:spPr>
          <p:txBody>
            <a:bodyPr wrap="square" lIns="45719" tIns="45719" rIns="45719" bIns="45719" numCol="1" anchor="ctr">
              <a:noAutofit/>
            </a:bodyPr>
            <a:lstStyle/>
            <a:p>
              <a:pPr/>
            </a:p>
          </p:txBody>
        </p:sp>
        <p:sp>
          <p:nvSpPr>
            <p:cNvPr id="248" name="Controls what a user can do. Role based access through Active Directory groups follows least privilege so only approved admins can make changes to the database or production data. Access gets reviewed regularly and removed when someone changes roles."/>
            <p:cNvSpPr txBox="1"/>
            <p:nvPr/>
          </p:nvSpPr>
          <p:spPr>
            <a:xfrm>
              <a:off x="16872" y="105570"/>
              <a:ext cx="7692936" cy="7489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ctr">
              <a:spAutoFit/>
            </a:bodyPr>
            <a:lstStyle>
              <a:lvl1pPr>
                <a:defRPr sz="1300">
                  <a:solidFill>
                    <a:srgbClr val="FFFFFF"/>
                  </a:solidFill>
                </a:defRPr>
              </a:lvl1pPr>
            </a:lstStyle>
            <a:p>
              <a:pPr/>
              <a:r>
                <a:t>Controls what a user can do. Role based access through Active Directory groups follows least privilege so only approved admins can make changes to the database or production data. Access gets reviewed regularly and removed when someone changes roles.</a:t>
              </a:r>
            </a:p>
          </p:txBody>
        </p:sp>
      </p:grpSp>
      <p:grpSp>
        <p:nvGrpSpPr>
          <p:cNvPr id="252" name="Accounting label 2014"/>
          <p:cNvGrpSpPr/>
          <p:nvPr/>
        </p:nvGrpSpPr>
        <p:grpSpPr>
          <a:xfrm>
            <a:off x="685800" y="4379976"/>
            <a:ext cx="2377440" cy="960121"/>
            <a:chOff x="0" y="0"/>
            <a:chExt cx="2377439" cy="960119"/>
          </a:xfrm>
        </p:grpSpPr>
        <p:sp>
          <p:nvSpPr>
            <p:cNvPr id="250" name="Rounded Rectangle"/>
            <p:cNvSpPr/>
            <p:nvPr/>
          </p:nvSpPr>
          <p:spPr>
            <a:xfrm>
              <a:off x="0" y="0"/>
              <a:ext cx="2377440" cy="960120"/>
            </a:xfrm>
            <a:prstGeom prst="roundRect">
              <a:avLst>
                <a:gd name="adj" fmla="val 6000"/>
              </a:avLst>
            </a:prstGeom>
            <a:solidFill>
              <a:srgbClr val="3E6B23"/>
            </a:solidFill>
            <a:ln w="12700" cap="flat">
              <a:noFill/>
              <a:miter lim="400000"/>
            </a:ln>
            <a:effectLst/>
          </p:spPr>
          <p:txBody>
            <a:bodyPr wrap="square" lIns="45719" tIns="45719" rIns="45719" bIns="45719" numCol="1" anchor="ctr">
              <a:noAutofit/>
            </a:bodyPr>
            <a:lstStyle/>
            <a:p>
              <a:pPr algn="ctr"/>
            </a:p>
          </p:txBody>
        </p:sp>
        <p:sp>
          <p:nvSpPr>
            <p:cNvPr id="251" name="Accounting"/>
            <p:cNvSpPr txBox="1"/>
            <p:nvPr/>
          </p:nvSpPr>
          <p:spPr>
            <a:xfrm>
              <a:off x="16873" y="265151"/>
              <a:ext cx="2343694" cy="4298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ctr">
              <a:spAutoFit/>
            </a:bodyPr>
            <a:lstStyle>
              <a:lvl1pPr algn="ctr">
                <a:defRPr b="1" sz="1700">
                  <a:solidFill>
                    <a:srgbClr val="FFFFFF"/>
                  </a:solidFill>
                </a:defRPr>
              </a:lvl1pPr>
            </a:lstStyle>
            <a:p>
              <a:pPr/>
              <a:r>
                <a:t>Accounting</a:t>
              </a:r>
            </a:p>
          </p:txBody>
        </p:sp>
      </p:grpSp>
      <p:grpSp>
        <p:nvGrpSpPr>
          <p:cNvPr id="255" name="Accounting policy 2015"/>
          <p:cNvGrpSpPr/>
          <p:nvPr/>
        </p:nvGrpSpPr>
        <p:grpSpPr>
          <a:xfrm>
            <a:off x="3200400" y="4379976"/>
            <a:ext cx="7726681" cy="960121"/>
            <a:chOff x="0" y="0"/>
            <a:chExt cx="7726680" cy="960119"/>
          </a:xfrm>
        </p:grpSpPr>
        <p:sp>
          <p:nvSpPr>
            <p:cNvPr id="253" name="Rounded Rectangle"/>
            <p:cNvSpPr/>
            <p:nvPr/>
          </p:nvSpPr>
          <p:spPr>
            <a:xfrm>
              <a:off x="0" y="0"/>
              <a:ext cx="7726681" cy="960120"/>
            </a:xfrm>
            <a:prstGeom prst="roundRect">
              <a:avLst>
                <a:gd name="adj" fmla="val 6000"/>
              </a:avLst>
            </a:prstGeom>
            <a:solidFill>
              <a:srgbClr val="1C1C1C"/>
            </a:solidFill>
            <a:ln w="12700" cap="flat">
              <a:noFill/>
              <a:miter lim="400000"/>
            </a:ln>
            <a:effectLst/>
          </p:spPr>
          <p:txBody>
            <a:bodyPr wrap="square" lIns="45719" tIns="45719" rIns="45719" bIns="45719" numCol="1" anchor="ctr">
              <a:noAutofit/>
            </a:bodyPr>
            <a:lstStyle/>
            <a:p>
              <a:pPr/>
            </a:p>
          </p:txBody>
        </p:sp>
        <p:sp>
          <p:nvSpPr>
            <p:cNvPr id="254" name="Records who did what and when. I log user logins and failed attempts, database changes, new users, changes to a users level of access, and files accessed, all sent to a central siem where the logs cant be edited."/>
            <p:cNvSpPr txBox="1"/>
            <p:nvPr/>
          </p:nvSpPr>
          <p:spPr>
            <a:xfrm>
              <a:off x="16872" y="105570"/>
              <a:ext cx="7692936" cy="7489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ctr">
              <a:spAutoFit/>
            </a:bodyPr>
            <a:lstStyle>
              <a:lvl1pPr>
                <a:defRPr sz="1300">
                  <a:solidFill>
                    <a:srgbClr val="FFFFFF"/>
                  </a:solidFill>
                </a:defRPr>
              </a:lvl1pPr>
            </a:lstStyle>
            <a:p>
              <a:pPr/>
              <a:r>
                <a:t>Records who did what and when. I log user logins and failed attempts, database changes, new users, changes to a users level of access, and files accessed, all sent to a central siem where the logs cant be edited.</a:t>
              </a:r>
            </a:p>
          </p:txBody>
        </p:sp>
      </p:gr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Google Shape;195;g9504e29505_0_0"/>
          <p:cNvSpPr txBox="1"/>
          <p:nvPr>
            <p:ph type="title"/>
          </p:nvPr>
        </p:nvSpPr>
        <p:spPr>
          <a:xfrm>
            <a:off x="2895600" y="764373"/>
            <a:ext cx="8610600" cy="1293000"/>
          </a:xfrm>
          <a:prstGeom prst="rect">
            <a:avLst/>
          </a:prstGeom>
        </p:spPr>
        <p:txBody>
          <a:bodyPr/>
          <a:lstStyle/>
          <a:p>
            <a:pPr/>
            <a:r>
              <a:t>Unit Testing</a:t>
            </a:r>
          </a:p>
        </p:txBody>
      </p:sp>
      <p:pic>
        <p:nvPicPr>
          <p:cNvPr id="258" name="Google Shape;197;g9504e29505_0_0" descr="Google Shape;197;g9504e29505_0_0"/>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sp>
        <p:nvSpPr>
          <p:cNvPr id="259" name="Unit testing overview 2016"/>
          <p:cNvSpPr txBox="1"/>
          <p:nvPr/>
        </p:nvSpPr>
        <p:spPr>
          <a:xfrm>
            <a:off x="685799" y="2148839"/>
            <a:ext cx="6949442" cy="4137803"/>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marL="285750" indent="-285750">
              <a:spcBef>
                <a:spcPts val="600"/>
              </a:spcBef>
              <a:buClr>
                <a:srgbClr val="8DC63F"/>
              </a:buClr>
              <a:buSzPct val="100000"/>
              <a:buFont typeface="Arial"/>
              <a:buChar char="•"/>
              <a:defRPr b="1" sz="1800">
                <a:solidFill>
                  <a:srgbClr val="8DC63F"/>
                </a:solidFill>
              </a:defRPr>
            </a:pPr>
            <a:r>
              <a:t>Vulnerability I tested: </a:t>
            </a:r>
            <a:r>
              <a:rPr b="0">
                <a:solidFill>
                  <a:srgbClr val="FFFFFF"/>
                </a:solidFill>
              </a:rPr>
              <a:t>unchecked element access in a std::vector which ties to my memory and string standards (STD-003, STD-005) and SEI CERT STR53-CPP range checking</a:t>
            </a:r>
            <a:br>
              <a:rPr b="0">
                <a:solidFill>
                  <a:srgbClr val="FFFFFF"/>
                </a:solidFill>
              </a:rPr>
            </a:br>
            <a:endParaRPr b="0">
              <a:solidFill>
                <a:srgbClr val="FFFFFF"/>
              </a:solidFill>
            </a:endParaRPr>
          </a:p>
          <a:p>
            <a:pPr marL="285750" indent="-285750">
              <a:spcBef>
                <a:spcPts val="600"/>
              </a:spcBef>
              <a:buClr>
                <a:srgbClr val="8DC63F"/>
              </a:buClr>
              <a:buSzPct val="100000"/>
              <a:buFont typeface="Arial"/>
              <a:buChar char="•"/>
              <a:defRPr b="1" sz="1800">
                <a:solidFill>
                  <a:srgbClr val="8DC63F"/>
                </a:solidFill>
              </a:defRPr>
            </a:pPr>
            <a:r>
              <a:t>Framework: </a:t>
            </a:r>
            <a:r>
              <a:rPr b="0">
                <a:solidFill>
                  <a:srgbClr val="FFFFFF"/>
                </a:solidFill>
              </a:rPr>
              <a:t>Google Test with a CollectionTest fixture whose SetUp and TearDown give every test a brand new collection in a smart pointer</a:t>
            </a:r>
            <a:br>
              <a:rPr b="0">
                <a:solidFill>
                  <a:srgbClr val="FFFFFF"/>
                </a:solidFill>
              </a:rPr>
            </a:br>
            <a:endParaRPr b="0">
              <a:solidFill>
                <a:srgbClr val="FFFFFF"/>
              </a:solidFill>
            </a:endParaRPr>
          </a:p>
          <a:p>
            <a:pPr marL="285750" indent="-285750">
              <a:spcBef>
                <a:spcPts val="600"/>
              </a:spcBef>
              <a:buClr>
                <a:srgbClr val="8DC63F"/>
              </a:buClr>
              <a:buSzPct val="100000"/>
              <a:buFont typeface="Arial"/>
              <a:buChar char="•"/>
              <a:defRPr b="1" sz="1800">
                <a:solidFill>
                  <a:srgbClr val="8DC63F"/>
                </a:solidFill>
              </a:defRPr>
            </a:pPr>
            <a:r>
              <a:t>ASSERT vs EXPECT: </a:t>
            </a:r>
            <a:r>
              <a:rPr b="0">
                <a:solidFill>
                  <a:srgbClr val="FFFFFF"/>
                </a:solidFill>
              </a:rPr>
              <a:t>ASSERT stops the test when a setup check fails, EXPECT reports the failure and keeps going</a:t>
            </a:r>
            <a:br>
              <a:rPr b="0">
                <a:solidFill>
                  <a:srgbClr val="FFFFFF"/>
                </a:solidFill>
              </a:rPr>
            </a:br>
            <a:endParaRPr b="0">
              <a:solidFill>
                <a:srgbClr val="FFFFFF"/>
              </a:solidFill>
            </a:endParaRPr>
          </a:p>
          <a:p>
            <a:pPr marL="285750" indent="-285750">
              <a:spcBef>
                <a:spcPts val="600"/>
              </a:spcBef>
              <a:buClr>
                <a:srgbClr val="8DC63F"/>
              </a:buClr>
              <a:buSzPct val="100000"/>
              <a:buFont typeface="Arial"/>
              <a:buChar char="•"/>
              <a:defRPr b="1" sz="1800">
                <a:solidFill>
                  <a:srgbClr val="8DC63F"/>
                </a:solidFill>
              </a:defRPr>
            </a:pPr>
            <a:r>
              <a:t>Results: </a:t>
            </a:r>
            <a:r>
              <a:rPr b="0">
                <a:solidFill>
                  <a:srgbClr val="FFFFFF"/>
                </a:solidFill>
              </a:rPr>
              <a:t>all 15 tests pass and the next six slides walk through 4 positive and 2 negative tests</a:t>
            </a:r>
          </a:p>
        </p:txBody>
      </p:sp>
      <p:grpSp>
        <p:nvGrpSpPr>
          <p:cNvPr id="262" name="Test pass count 2017"/>
          <p:cNvGrpSpPr/>
          <p:nvPr/>
        </p:nvGrpSpPr>
        <p:grpSpPr>
          <a:xfrm>
            <a:off x="8001000" y="2286000"/>
            <a:ext cx="3703626" cy="2777720"/>
            <a:chOff x="0" y="0"/>
            <a:chExt cx="3703625" cy="2777719"/>
          </a:xfrm>
        </p:grpSpPr>
        <p:sp>
          <p:nvSpPr>
            <p:cNvPr id="260" name="Rounded Rectangle"/>
            <p:cNvSpPr/>
            <p:nvPr/>
          </p:nvSpPr>
          <p:spPr>
            <a:xfrm>
              <a:off x="0" y="0"/>
              <a:ext cx="3703626" cy="2777720"/>
            </a:xfrm>
            <a:prstGeom prst="roundRect">
              <a:avLst>
                <a:gd name="adj" fmla="val 6000"/>
              </a:avLst>
            </a:prstGeom>
            <a:solidFill>
              <a:srgbClr val="1C1C1C"/>
            </a:solidFill>
            <a:ln w="12700" cap="flat">
              <a:noFill/>
              <a:miter lim="400000"/>
            </a:ln>
            <a:effectLst/>
          </p:spPr>
          <p:txBody>
            <a:bodyPr wrap="square" lIns="45719" tIns="45719" rIns="45719" bIns="45719" numCol="1" anchor="ctr">
              <a:noAutofit/>
            </a:bodyPr>
            <a:lstStyle/>
            <a:p>
              <a:pPr algn="ctr"/>
            </a:p>
          </p:txBody>
        </p:sp>
        <p:sp>
          <p:nvSpPr>
            <p:cNvPr id="261" name="15 / 15…"/>
            <p:cNvSpPr txBox="1"/>
            <p:nvPr/>
          </p:nvSpPr>
          <p:spPr>
            <a:xfrm>
              <a:off x="48814" y="633812"/>
              <a:ext cx="3605998" cy="15100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ctr">
              <a:noAutofit/>
            </a:bodyPr>
            <a:lstStyle/>
            <a:p>
              <a:pPr algn="ctr">
                <a:spcBef>
                  <a:spcPts val="200"/>
                </a:spcBef>
                <a:defRPr b="1" sz="5400">
                  <a:solidFill>
                    <a:srgbClr val="8DC63F"/>
                  </a:solidFill>
                </a:defRPr>
              </a:pPr>
              <a:r>
                <a:t>15 / 15</a:t>
              </a:r>
            </a:p>
            <a:p>
              <a:pPr algn="ctr">
                <a:defRPr>
                  <a:solidFill>
                    <a:srgbClr val="FFFFFF"/>
                  </a:solidFill>
                </a:defRPr>
              </a:pPr>
              <a:r>
                <a:t>Google Test cases passed</a:t>
              </a:r>
            </a:p>
          </p:txBody>
        </p:sp>
      </p:gr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Google Shape;174;p6"/>
          <p:cNvSpPr txBox="1"/>
          <p:nvPr>
            <p:ph type="title"/>
          </p:nvPr>
        </p:nvSpPr>
        <p:spPr>
          <a:xfrm>
            <a:off x="2895600" y="764373"/>
            <a:ext cx="8610600" cy="1293028"/>
          </a:xfrm>
          <a:prstGeom prst="rect">
            <a:avLst/>
          </a:prstGeom>
        </p:spPr>
        <p:txBody>
          <a:bodyPr/>
          <a:lstStyle>
            <a:lvl1pPr>
              <a:defRPr sz="2600"/>
            </a:lvl1pPr>
          </a:lstStyle>
          <a:p>
            <a:pPr/>
            <a:r>
              <a:t>Does adding one value to an empty collection make its size 1?</a:t>
            </a:r>
          </a:p>
        </p:txBody>
      </p:sp>
      <p:pic>
        <p:nvPicPr>
          <p:cNvPr id="265" name="Google Shape;176;p6" descr="Google Shape;176;p6"/>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grpSp>
        <p:nvGrpSpPr>
          <p:cNvPr id="268" name="Test code 2018"/>
          <p:cNvGrpSpPr/>
          <p:nvPr/>
        </p:nvGrpSpPr>
        <p:grpSpPr>
          <a:xfrm>
            <a:off x="685799" y="2168525"/>
            <a:ext cx="5669281" cy="2331721"/>
            <a:chOff x="0" y="0"/>
            <a:chExt cx="5669279" cy="2331720"/>
          </a:xfrm>
        </p:grpSpPr>
        <p:sp>
          <p:nvSpPr>
            <p:cNvPr id="266" name="Rectangle"/>
            <p:cNvSpPr/>
            <p:nvPr/>
          </p:nvSpPr>
          <p:spPr>
            <a:xfrm>
              <a:off x="0" y="-1"/>
              <a:ext cx="5669280" cy="2331722"/>
            </a:xfrm>
            <a:prstGeom prst="rect">
              <a:avLst/>
            </a:prstGeom>
            <a:solidFill>
              <a:srgbClr val="151515"/>
            </a:solidFill>
            <a:ln w="12700" cap="flat">
              <a:solidFill>
                <a:srgbClr val="4A4A4A"/>
              </a:solidFill>
              <a:prstDash val="solid"/>
              <a:round/>
            </a:ln>
            <a:effectLst/>
          </p:spPr>
          <p:txBody>
            <a:bodyPr wrap="square" lIns="45719" tIns="45719" rIns="45719" bIns="45719" numCol="1" anchor="t">
              <a:noAutofit/>
            </a:bodyPr>
            <a:lstStyle/>
            <a:p>
              <a:pPr/>
            </a:p>
          </p:txBody>
        </p:sp>
        <p:sp>
          <p:nvSpPr>
            <p:cNvPr id="267" name="TEST_F(CollectionTest, CanAddToEmptyVector)…"/>
            <p:cNvSpPr txBox="1"/>
            <p:nvPr/>
          </p:nvSpPr>
          <p:spPr>
            <a:xfrm>
              <a:off x="6350" y="6349"/>
              <a:ext cx="5656580" cy="19608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p>
              <a:pPr>
                <a:defRPr sz="1200">
                  <a:solidFill>
                    <a:srgbClr val="E6E6E6"/>
                  </a:solidFill>
                  <a:latin typeface="Courier New"/>
                  <a:ea typeface="Courier New"/>
                  <a:cs typeface="Courier New"/>
                  <a:sym typeface="Courier New"/>
                </a:defRPr>
              </a:pPr>
              <a:r>
                <a:t>TEST_F(CollectionTest, CanAddToEmptyVector)</a:t>
              </a:r>
            </a:p>
            <a:p>
              <a:pPr>
                <a:defRPr sz="1200">
                  <a:solidFill>
                    <a:srgbClr val="E6E6E6"/>
                  </a:solidFill>
                  <a:latin typeface="Courier New"/>
                  <a:ea typeface="Courier New"/>
                  <a:cs typeface="Courier New"/>
                  <a:sym typeface="Courier New"/>
                </a:defRPr>
              </a:pPr>
              <a:r>
                <a:t>{</a:t>
              </a:r>
            </a:p>
            <a:p>
              <a:pPr>
                <a:defRPr sz="1200">
                  <a:solidFill>
                    <a:srgbClr val="E6E6E6"/>
                  </a:solidFill>
                  <a:latin typeface="Courier New"/>
                  <a:ea typeface="Courier New"/>
                  <a:cs typeface="Courier New"/>
                  <a:sym typeface="Courier New"/>
                </a:defRPr>
              </a:pPr>
              <a:r>
                <a:t>  ASSERT_TRUE(collection-&gt;empty());</a:t>
              </a:r>
            </a:p>
            <a:p>
              <a:pPr>
                <a:defRPr sz="1200">
                  <a:solidFill>
                    <a:srgbClr val="E6E6E6"/>
                  </a:solidFill>
                  <a:latin typeface="Courier New"/>
                  <a:ea typeface="Courier New"/>
                  <a:cs typeface="Courier New"/>
                  <a:sym typeface="Courier New"/>
                </a:defRPr>
              </a:pPr>
              <a:r>
                <a:t>  ASSERT_EQ(collection-&gt;size(), 0);</a:t>
              </a:r>
            </a:p>
            <a:p>
              <a:pPr>
                <a:defRPr sz="1200">
                  <a:solidFill>
                    <a:srgbClr val="E6E6E6"/>
                  </a:solidFill>
                  <a:latin typeface="Courier New"/>
                  <a:ea typeface="Courier New"/>
                  <a:cs typeface="Courier New"/>
                  <a:sym typeface="Courier New"/>
                </a:defRPr>
              </a:pPr>
              <a:r>
                <a:t> </a:t>
              </a:r>
            </a:p>
            <a:p>
              <a:pPr>
                <a:defRPr sz="1200">
                  <a:solidFill>
                    <a:srgbClr val="E6E6E6"/>
                  </a:solidFill>
                  <a:latin typeface="Courier New"/>
                  <a:ea typeface="Courier New"/>
                  <a:cs typeface="Courier New"/>
                  <a:sym typeface="Courier New"/>
                </a:defRPr>
              </a:pPr>
              <a:r>
                <a:t>  add_entries(1);</a:t>
              </a:r>
            </a:p>
            <a:p>
              <a:pPr>
                <a:defRPr sz="1200">
                  <a:solidFill>
                    <a:srgbClr val="E6E6E6"/>
                  </a:solidFill>
                  <a:latin typeface="Courier New"/>
                  <a:ea typeface="Courier New"/>
                  <a:cs typeface="Courier New"/>
                  <a:sym typeface="Courier New"/>
                </a:defRPr>
              </a:pPr>
              <a:r>
                <a:t> </a:t>
              </a:r>
            </a:p>
            <a:p>
              <a:pPr>
                <a:defRPr sz="1200">
                  <a:solidFill>
                    <a:srgbClr val="E6E6E6"/>
                  </a:solidFill>
                  <a:latin typeface="Courier New"/>
                  <a:ea typeface="Courier New"/>
                  <a:cs typeface="Courier New"/>
                  <a:sym typeface="Courier New"/>
                </a:defRPr>
              </a:pPr>
              <a:r>
                <a:t>  EXPECT_FALSE(collection-&gt;empty());</a:t>
              </a:r>
            </a:p>
            <a:p>
              <a:pPr>
                <a:defRPr sz="1200">
                  <a:solidFill>
                    <a:srgbClr val="E6E6E6"/>
                  </a:solidFill>
                  <a:latin typeface="Courier New"/>
                  <a:ea typeface="Courier New"/>
                  <a:cs typeface="Courier New"/>
                  <a:sym typeface="Courier New"/>
                </a:defRPr>
              </a:pPr>
              <a:r>
                <a:t>  EXPECT_EQ(collection-&gt;size(), 1);</a:t>
              </a:r>
            </a:p>
            <a:p>
              <a:pPr>
                <a:defRPr sz="1200">
                  <a:solidFill>
                    <a:srgbClr val="E6E6E6"/>
                  </a:solidFill>
                  <a:latin typeface="Courier New"/>
                  <a:ea typeface="Courier New"/>
                  <a:cs typeface="Courier New"/>
                  <a:sym typeface="Courier New"/>
                </a:defRPr>
              </a:pPr>
              <a:r>
                <a:t>}</a:t>
              </a:r>
            </a:p>
          </p:txBody>
        </p:sp>
      </p:grpSp>
      <p:pic>
        <p:nvPicPr>
          <p:cNvPr id="269" name="Picture 2019" descr="Picture 2019"/>
          <p:cNvPicPr>
            <a:picLocks noChangeAspect="1"/>
          </p:cNvPicPr>
          <p:nvPr/>
        </p:nvPicPr>
        <p:blipFill>
          <a:blip r:embed="rId3">
            <a:extLst/>
          </a:blip>
          <a:stretch>
            <a:fillRect/>
          </a:stretch>
        </p:blipFill>
        <p:spPr>
          <a:xfrm>
            <a:off x="767406" y="4764611"/>
            <a:ext cx="5669281" cy="716121"/>
          </a:xfrm>
          <a:prstGeom prst="rect">
            <a:avLst/>
          </a:prstGeom>
          <a:ln w="12700">
            <a:solidFill>
              <a:srgbClr val="4A4A4A"/>
            </a:solidFill>
          </a:ln>
        </p:spPr>
      </p:pic>
      <p:grpSp>
        <p:nvGrpSpPr>
          <p:cNvPr id="272" name="Test type 2020"/>
          <p:cNvGrpSpPr/>
          <p:nvPr/>
        </p:nvGrpSpPr>
        <p:grpSpPr>
          <a:xfrm>
            <a:off x="6629400" y="2148839"/>
            <a:ext cx="1828800" cy="384049"/>
            <a:chOff x="0" y="0"/>
            <a:chExt cx="1828800" cy="384047"/>
          </a:xfrm>
        </p:grpSpPr>
        <p:sp>
          <p:nvSpPr>
            <p:cNvPr id="270" name="Rounded Rectangle"/>
            <p:cNvSpPr/>
            <p:nvPr/>
          </p:nvSpPr>
          <p:spPr>
            <a:xfrm>
              <a:off x="0" y="0"/>
              <a:ext cx="1828800" cy="384048"/>
            </a:xfrm>
            <a:prstGeom prst="roundRect">
              <a:avLst>
                <a:gd name="adj" fmla="val 6000"/>
              </a:avLst>
            </a:prstGeom>
            <a:solidFill>
              <a:srgbClr val="3E6B23"/>
            </a:solidFill>
            <a:ln w="12700" cap="flat">
              <a:noFill/>
              <a:miter lim="400000"/>
            </a:ln>
            <a:effectLst/>
          </p:spPr>
          <p:txBody>
            <a:bodyPr wrap="square" lIns="45719" tIns="45719" rIns="45719" bIns="45719" numCol="1" anchor="ctr">
              <a:noAutofit/>
            </a:bodyPr>
            <a:lstStyle/>
            <a:p>
              <a:pPr algn="ctr"/>
            </a:p>
          </p:txBody>
        </p:sp>
        <p:sp>
          <p:nvSpPr>
            <p:cNvPr id="271" name="Positive test"/>
            <p:cNvSpPr txBox="1"/>
            <p:nvPr/>
          </p:nvSpPr>
          <p:spPr>
            <a:xfrm>
              <a:off x="6749" y="53754"/>
              <a:ext cx="1815302" cy="276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300">
                  <a:solidFill>
                    <a:srgbClr val="FFFFFF"/>
                  </a:solidFill>
                </a:defRPr>
              </a:lvl1pPr>
            </a:lstStyle>
            <a:p>
              <a:pPr/>
              <a:r>
                <a:t>Positive test</a:t>
              </a:r>
            </a:p>
          </p:txBody>
        </p:sp>
      </p:grpSp>
      <p:sp>
        <p:nvSpPr>
          <p:cNvPr id="273" name="Test explanation 2021"/>
          <p:cNvSpPr txBox="1"/>
          <p:nvPr/>
        </p:nvSpPr>
        <p:spPr>
          <a:xfrm>
            <a:off x="6629400" y="2697479"/>
            <a:ext cx="4343400" cy="22094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spcBef>
                <a:spcPts val="400"/>
              </a:spcBef>
              <a:defRPr b="1" sz="1500">
                <a:solidFill>
                  <a:srgbClr val="8DC63F"/>
                </a:solidFill>
              </a:defRPr>
            </a:pPr>
            <a:r>
              <a:t>What it proves</a:t>
            </a:r>
          </a:p>
          <a:p>
            <a:pPr>
              <a:spcBef>
                <a:spcPts val="900"/>
              </a:spcBef>
              <a:defRPr sz="1300">
                <a:solidFill>
                  <a:srgbClr val="FFFFFF"/>
                </a:solidFill>
              </a:defRPr>
            </a:pPr>
            <a:r>
              <a:t>Proves the collection starts empty and grows by exactly one</a:t>
            </a:r>
            <a:br/>
          </a:p>
          <a:p>
            <a:pPr>
              <a:spcBef>
                <a:spcPts val="400"/>
              </a:spcBef>
              <a:defRPr b="1" sz="1500">
                <a:solidFill>
                  <a:srgbClr val="8DC63F"/>
                </a:solidFill>
              </a:defRPr>
            </a:pPr>
            <a:r>
              <a:t>Taking it a step further</a:t>
            </a:r>
          </a:p>
          <a:p>
            <a:pPr marL="285750" indent="-285750">
              <a:spcBef>
                <a:spcPts val="400"/>
              </a:spcBef>
              <a:buClr>
                <a:srgbClr val="8DC63F"/>
              </a:buClr>
              <a:buSzPct val="100000"/>
              <a:buFont typeface="Arial"/>
              <a:buChar char="•"/>
              <a:defRPr sz="1300">
                <a:solidFill>
                  <a:srgbClr val="FFFFFF"/>
                </a:solidFill>
              </a:defRPr>
            </a:pPr>
            <a:r>
              <a:t>Turn it into a parameterized test that checks many sizes at once</a:t>
            </a:r>
          </a:p>
          <a:p>
            <a:pPr marL="285750" indent="-285750">
              <a:spcBef>
                <a:spcPts val="400"/>
              </a:spcBef>
              <a:buClr>
                <a:srgbClr val="8DC63F"/>
              </a:buClr>
              <a:buSzPct val="100000"/>
              <a:buFont typeface="Arial"/>
              <a:buChar char="•"/>
              <a:defRPr sz="1300">
                <a:solidFill>
                  <a:srgbClr val="FFFFFF"/>
                </a:solidFill>
              </a:defRPr>
            </a:pPr>
            <a:r>
              <a:t>Run it under AddressSanitizer to catch hidden memory errors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Google Shape;174;p6"/>
          <p:cNvSpPr txBox="1"/>
          <p:nvPr>
            <p:ph type="title"/>
          </p:nvPr>
        </p:nvSpPr>
        <p:spPr>
          <a:xfrm>
            <a:off x="2895600" y="764373"/>
            <a:ext cx="8610600" cy="1293028"/>
          </a:xfrm>
          <a:prstGeom prst="rect">
            <a:avLst/>
          </a:prstGeom>
        </p:spPr>
        <p:txBody>
          <a:bodyPr/>
          <a:lstStyle>
            <a:lvl1pPr>
              <a:defRPr sz="2600"/>
            </a:lvl1pPr>
          </a:lstStyle>
          <a:p>
            <a:pPr/>
            <a:r>
              <a:t>Does reserve increase capacity without changing size?</a:t>
            </a:r>
          </a:p>
        </p:txBody>
      </p:sp>
      <p:pic>
        <p:nvPicPr>
          <p:cNvPr id="276" name="Google Shape;176;p6" descr="Google Shape;176;p6"/>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grpSp>
        <p:nvGrpSpPr>
          <p:cNvPr id="279" name="Test code 2022"/>
          <p:cNvGrpSpPr/>
          <p:nvPr/>
        </p:nvGrpSpPr>
        <p:grpSpPr>
          <a:xfrm>
            <a:off x="685800" y="2148839"/>
            <a:ext cx="5669280" cy="2331721"/>
            <a:chOff x="0" y="0"/>
            <a:chExt cx="5669279" cy="2331720"/>
          </a:xfrm>
        </p:grpSpPr>
        <p:sp>
          <p:nvSpPr>
            <p:cNvPr id="277" name="Rectangle"/>
            <p:cNvSpPr/>
            <p:nvPr/>
          </p:nvSpPr>
          <p:spPr>
            <a:xfrm>
              <a:off x="0" y="-1"/>
              <a:ext cx="5669280" cy="2331722"/>
            </a:xfrm>
            <a:prstGeom prst="rect">
              <a:avLst/>
            </a:prstGeom>
            <a:solidFill>
              <a:srgbClr val="151515"/>
            </a:solidFill>
            <a:ln w="12700" cap="flat">
              <a:solidFill>
                <a:srgbClr val="4A4A4A"/>
              </a:solidFill>
              <a:prstDash val="solid"/>
              <a:round/>
            </a:ln>
            <a:effectLst/>
          </p:spPr>
          <p:txBody>
            <a:bodyPr wrap="square" lIns="45719" tIns="45719" rIns="45719" bIns="45719" numCol="1" anchor="t">
              <a:noAutofit/>
            </a:bodyPr>
            <a:lstStyle/>
            <a:p>
              <a:pPr/>
            </a:p>
          </p:txBody>
        </p:sp>
        <p:sp>
          <p:nvSpPr>
            <p:cNvPr id="278" name="TEST_F(CollectionTest, ReserveIncreasesCapacityNotSize)…"/>
            <p:cNvSpPr txBox="1"/>
            <p:nvPr/>
          </p:nvSpPr>
          <p:spPr>
            <a:xfrm>
              <a:off x="6350" y="6349"/>
              <a:ext cx="5656580" cy="19608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p>
              <a:pPr>
                <a:defRPr sz="1200">
                  <a:solidFill>
                    <a:srgbClr val="E6E6E6"/>
                  </a:solidFill>
                  <a:latin typeface="Courier New"/>
                  <a:ea typeface="Courier New"/>
                  <a:cs typeface="Courier New"/>
                  <a:sym typeface="Courier New"/>
                </a:defRPr>
              </a:pPr>
              <a:r>
                <a:t>TEST_F(CollectionTest, ReserveIncreasesCapacityNotSize)</a:t>
              </a:r>
            </a:p>
            <a:p>
              <a:pPr>
                <a:defRPr sz="1200">
                  <a:solidFill>
                    <a:srgbClr val="E6E6E6"/>
                  </a:solidFill>
                  <a:latin typeface="Courier New"/>
                  <a:ea typeface="Courier New"/>
                  <a:cs typeface="Courier New"/>
                  <a:sym typeface="Courier New"/>
                </a:defRPr>
              </a:pPr>
              <a:r>
                <a:t>{</a:t>
              </a:r>
            </a:p>
            <a:p>
              <a:pPr>
                <a:defRPr sz="1200">
                  <a:solidFill>
                    <a:srgbClr val="E6E6E6"/>
                  </a:solidFill>
                  <a:latin typeface="Courier New"/>
                  <a:ea typeface="Courier New"/>
                  <a:cs typeface="Courier New"/>
                  <a:sym typeface="Courier New"/>
                </a:defRPr>
              </a:pPr>
              <a:r>
                <a:t>  add_entries(5);</a:t>
              </a:r>
            </a:p>
            <a:p>
              <a:pPr>
                <a:defRPr sz="1200">
                  <a:solidFill>
                    <a:srgbClr val="E6E6E6"/>
                  </a:solidFill>
                  <a:latin typeface="Courier New"/>
                  <a:ea typeface="Courier New"/>
                  <a:cs typeface="Courier New"/>
                  <a:sym typeface="Courier New"/>
                </a:defRPr>
              </a:pPr>
              <a:r>
                <a:t>  ASSERT_EQ(collection-&gt;size(), 5);</a:t>
              </a:r>
            </a:p>
            <a:p>
              <a:pPr>
                <a:defRPr sz="1200">
                  <a:solidFill>
                    <a:srgbClr val="E6E6E6"/>
                  </a:solidFill>
                  <a:latin typeface="Courier New"/>
                  <a:ea typeface="Courier New"/>
                  <a:cs typeface="Courier New"/>
                  <a:sym typeface="Courier New"/>
                </a:defRPr>
              </a:pPr>
              <a:r>
                <a:t> </a:t>
              </a:r>
            </a:p>
            <a:p>
              <a:pPr>
                <a:defRPr sz="1200">
                  <a:solidFill>
                    <a:srgbClr val="E6E6E6"/>
                  </a:solidFill>
                  <a:latin typeface="Courier New"/>
                  <a:ea typeface="Courier New"/>
                  <a:cs typeface="Courier New"/>
                  <a:sym typeface="Courier New"/>
                </a:defRPr>
              </a:pPr>
              <a:r>
                <a:t>  collection-&gt;reserve(100);</a:t>
              </a:r>
            </a:p>
            <a:p>
              <a:pPr>
                <a:defRPr sz="1200">
                  <a:solidFill>
                    <a:srgbClr val="E6E6E6"/>
                  </a:solidFill>
                  <a:latin typeface="Courier New"/>
                  <a:ea typeface="Courier New"/>
                  <a:cs typeface="Courier New"/>
                  <a:sym typeface="Courier New"/>
                </a:defRPr>
              </a:pPr>
              <a:r>
                <a:t> </a:t>
              </a:r>
            </a:p>
            <a:p>
              <a:pPr>
                <a:defRPr sz="1200">
                  <a:solidFill>
                    <a:srgbClr val="E6E6E6"/>
                  </a:solidFill>
                  <a:latin typeface="Courier New"/>
                  <a:ea typeface="Courier New"/>
                  <a:cs typeface="Courier New"/>
                  <a:sym typeface="Courier New"/>
                </a:defRPr>
              </a:pPr>
              <a:r>
                <a:t>  EXPECT_GE(collection-&gt;capacity(), 100);</a:t>
              </a:r>
            </a:p>
            <a:p>
              <a:pPr>
                <a:defRPr sz="1200">
                  <a:solidFill>
                    <a:srgbClr val="E6E6E6"/>
                  </a:solidFill>
                  <a:latin typeface="Courier New"/>
                  <a:ea typeface="Courier New"/>
                  <a:cs typeface="Courier New"/>
                  <a:sym typeface="Courier New"/>
                </a:defRPr>
              </a:pPr>
              <a:r>
                <a:t>  EXPECT_EQ(collection-&gt;size(), 5);</a:t>
              </a:r>
            </a:p>
            <a:p>
              <a:pPr>
                <a:defRPr sz="1200">
                  <a:solidFill>
                    <a:srgbClr val="E6E6E6"/>
                  </a:solidFill>
                  <a:latin typeface="Courier New"/>
                  <a:ea typeface="Courier New"/>
                  <a:cs typeface="Courier New"/>
                  <a:sym typeface="Courier New"/>
                </a:defRPr>
              </a:pPr>
              <a:r>
                <a:t>}</a:t>
              </a:r>
            </a:p>
          </p:txBody>
        </p:sp>
      </p:grpSp>
      <p:pic>
        <p:nvPicPr>
          <p:cNvPr id="280" name="Picture 2023" descr="Picture 2023"/>
          <p:cNvPicPr>
            <a:picLocks noChangeAspect="1"/>
          </p:cNvPicPr>
          <p:nvPr/>
        </p:nvPicPr>
        <p:blipFill>
          <a:blip r:embed="rId3">
            <a:extLst/>
          </a:blip>
          <a:stretch>
            <a:fillRect/>
          </a:stretch>
        </p:blipFill>
        <p:spPr>
          <a:xfrm>
            <a:off x="685800" y="4617720"/>
            <a:ext cx="5669280" cy="716121"/>
          </a:xfrm>
          <a:prstGeom prst="rect">
            <a:avLst/>
          </a:prstGeom>
          <a:ln w="12700">
            <a:solidFill>
              <a:srgbClr val="4A4A4A"/>
            </a:solidFill>
          </a:ln>
        </p:spPr>
      </p:pic>
      <p:grpSp>
        <p:nvGrpSpPr>
          <p:cNvPr id="283" name="Test type 2024"/>
          <p:cNvGrpSpPr/>
          <p:nvPr/>
        </p:nvGrpSpPr>
        <p:grpSpPr>
          <a:xfrm>
            <a:off x="6629400" y="2148839"/>
            <a:ext cx="1828800" cy="384049"/>
            <a:chOff x="0" y="0"/>
            <a:chExt cx="1828800" cy="384047"/>
          </a:xfrm>
        </p:grpSpPr>
        <p:sp>
          <p:nvSpPr>
            <p:cNvPr id="281" name="Rounded Rectangle"/>
            <p:cNvSpPr/>
            <p:nvPr/>
          </p:nvSpPr>
          <p:spPr>
            <a:xfrm>
              <a:off x="0" y="0"/>
              <a:ext cx="1828800" cy="384048"/>
            </a:xfrm>
            <a:prstGeom prst="roundRect">
              <a:avLst>
                <a:gd name="adj" fmla="val 6000"/>
              </a:avLst>
            </a:prstGeom>
            <a:solidFill>
              <a:srgbClr val="3E6B23"/>
            </a:solidFill>
            <a:ln w="12700" cap="flat">
              <a:noFill/>
              <a:miter lim="400000"/>
            </a:ln>
            <a:effectLst/>
          </p:spPr>
          <p:txBody>
            <a:bodyPr wrap="square" lIns="45719" tIns="45719" rIns="45719" bIns="45719" numCol="1" anchor="ctr">
              <a:noAutofit/>
            </a:bodyPr>
            <a:lstStyle/>
            <a:p>
              <a:pPr algn="ctr"/>
            </a:p>
          </p:txBody>
        </p:sp>
        <p:sp>
          <p:nvSpPr>
            <p:cNvPr id="282" name="Positive test"/>
            <p:cNvSpPr txBox="1"/>
            <p:nvPr/>
          </p:nvSpPr>
          <p:spPr>
            <a:xfrm>
              <a:off x="6749" y="53754"/>
              <a:ext cx="1815302" cy="276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300">
                  <a:solidFill>
                    <a:srgbClr val="FFFFFF"/>
                  </a:solidFill>
                </a:defRPr>
              </a:lvl1pPr>
            </a:lstStyle>
            <a:p>
              <a:pPr/>
              <a:r>
                <a:t>Positive test</a:t>
              </a:r>
            </a:p>
          </p:txBody>
        </p:sp>
      </p:grpSp>
      <p:sp>
        <p:nvSpPr>
          <p:cNvPr id="284" name="Test explanation 2025"/>
          <p:cNvSpPr txBox="1"/>
          <p:nvPr/>
        </p:nvSpPr>
        <p:spPr>
          <a:xfrm>
            <a:off x="6629400" y="2697479"/>
            <a:ext cx="4343400" cy="18284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spcBef>
                <a:spcPts val="400"/>
              </a:spcBef>
              <a:defRPr b="1" sz="1500">
                <a:solidFill>
                  <a:srgbClr val="8DC63F"/>
                </a:solidFill>
              </a:defRPr>
            </a:pPr>
            <a:r>
              <a:t>What it proves</a:t>
            </a:r>
          </a:p>
          <a:p>
            <a:pPr>
              <a:spcBef>
                <a:spcPts val="900"/>
              </a:spcBef>
              <a:defRPr sz="1300">
                <a:solidFill>
                  <a:srgbClr val="FFFFFF"/>
                </a:solidFill>
              </a:defRPr>
            </a:pPr>
            <a:r>
              <a:t>Proves reserve only sets aside room and never adds fake elements</a:t>
            </a:r>
          </a:p>
          <a:p>
            <a:pPr>
              <a:spcBef>
                <a:spcPts val="400"/>
              </a:spcBef>
              <a:defRPr b="1" sz="1500">
                <a:solidFill>
                  <a:srgbClr val="8DC63F"/>
                </a:solidFill>
              </a:defRPr>
            </a:pPr>
            <a:r>
              <a:t>Taking it a step further</a:t>
            </a:r>
          </a:p>
          <a:p>
            <a:pPr marL="285750" indent="-285750">
              <a:spcBef>
                <a:spcPts val="400"/>
              </a:spcBef>
              <a:buClr>
                <a:srgbClr val="8DC63F"/>
              </a:buClr>
              <a:buSzPct val="100000"/>
              <a:buFont typeface="Arial"/>
              <a:buChar char="•"/>
              <a:defRPr sz="1300">
                <a:solidFill>
                  <a:srgbClr val="FFFFFF"/>
                </a:solidFill>
              </a:defRPr>
            </a:pPr>
            <a:r>
              <a:t>Add a negative case that reserves past max_size</a:t>
            </a:r>
          </a:p>
          <a:p>
            <a:pPr marL="285750" indent="-285750">
              <a:spcBef>
                <a:spcPts val="400"/>
              </a:spcBef>
              <a:buClr>
                <a:srgbClr val="8DC63F"/>
              </a:buClr>
              <a:buSzPct val="100000"/>
              <a:buFont typeface="Arial"/>
              <a:buChar char="•"/>
              <a:defRPr sz="1300">
                <a:solidFill>
                  <a:srgbClr val="FFFFFF"/>
                </a:solidFill>
              </a:defRPr>
            </a:pPr>
            <a:r>
              <a:t>Check that the existing values are unchanged after the reserve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6" name="Google Shape;174;p6"/>
          <p:cNvSpPr txBox="1"/>
          <p:nvPr>
            <p:ph type="title"/>
          </p:nvPr>
        </p:nvSpPr>
        <p:spPr>
          <a:xfrm>
            <a:off x="2895600" y="764373"/>
            <a:ext cx="8610600" cy="1293028"/>
          </a:xfrm>
          <a:prstGeom prst="rect">
            <a:avLst/>
          </a:prstGeom>
        </p:spPr>
        <p:txBody>
          <a:bodyPr/>
          <a:lstStyle>
            <a:lvl1pPr>
              <a:defRPr sz="2600"/>
            </a:lvl1pPr>
          </a:lstStyle>
          <a:p>
            <a:pPr/>
            <a:r>
              <a:t>Does erase(begin, end) empty the whole collection?</a:t>
            </a:r>
          </a:p>
        </p:txBody>
      </p:sp>
      <p:pic>
        <p:nvPicPr>
          <p:cNvPr id="287" name="Google Shape;176;p6" descr="Google Shape;176;p6"/>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grpSp>
        <p:nvGrpSpPr>
          <p:cNvPr id="290" name="Test code 2026"/>
          <p:cNvGrpSpPr/>
          <p:nvPr/>
        </p:nvGrpSpPr>
        <p:grpSpPr>
          <a:xfrm>
            <a:off x="685800" y="2148839"/>
            <a:ext cx="5669280" cy="2331721"/>
            <a:chOff x="0" y="0"/>
            <a:chExt cx="5669279" cy="2331720"/>
          </a:xfrm>
        </p:grpSpPr>
        <p:sp>
          <p:nvSpPr>
            <p:cNvPr id="288" name="Rectangle"/>
            <p:cNvSpPr/>
            <p:nvPr/>
          </p:nvSpPr>
          <p:spPr>
            <a:xfrm>
              <a:off x="0" y="-1"/>
              <a:ext cx="5669280" cy="2331722"/>
            </a:xfrm>
            <a:prstGeom prst="rect">
              <a:avLst/>
            </a:prstGeom>
            <a:solidFill>
              <a:srgbClr val="151515"/>
            </a:solidFill>
            <a:ln w="12700" cap="flat">
              <a:solidFill>
                <a:srgbClr val="4A4A4A"/>
              </a:solidFill>
              <a:prstDash val="solid"/>
              <a:round/>
            </a:ln>
            <a:effectLst/>
          </p:spPr>
          <p:txBody>
            <a:bodyPr wrap="square" lIns="45719" tIns="45719" rIns="45719" bIns="45719" numCol="1" anchor="t">
              <a:noAutofit/>
            </a:bodyPr>
            <a:lstStyle/>
            <a:p>
              <a:pPr/>
            </a:p>
          </p:txBody>
        </p:sp>
        <p:sp>
          <p:nvSpPr>
            <p:cNvPr id="289" name="TEST_F(CollectionTest, EraseBeginEndErasesCollection)…"/>
            <p:cNvSpPr txBox="1"/>
            <p:nvPr/>
          </p:nvSpPr>
          <p:spPr>
            <a:xfrm>
              <a:off x="6350" y="6349"/>
              <a:ext cx="5656580" cy="213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p>
              <a:pPr>
                <a:defRPr sz="1200">
                  <a:solidFill>
                    <a:srgbClr val="E6E6E6"/>
                  </a:solidFill>
                  <a:latin typeface="Courier New"/>
                  <a:ea typeface="Courier New"/>
                  <a:cs typeface="Courier New"/>
                  <a:sym typeface="Courier New"/>
                </a:defRPr>
              </a:pPr>
              <a:r>
                <a:t>TEST_F(CollectionTest, EraseBeginEndErasesCollection)</a:t>
              </a:r>
            </a:p>
            <a:p>
              <a:pPr>
                <a:defRPr sz="1200">
                  <a:solidFill>
                    <a:srgbClr val="E6E6E6"/>
                  </a:solidFill>
                  <a:latin typeface="Courier New"/>
                  <a:ea typeface="Courier New"/>
                  <a:cs typeface="Courier New"/>
                  <a:sym typeface="Courier New"/>
                </a:defRPr>
              </a:pPr>
              <a:r>
                <a:t>{</a:t>
              </a:r>
            </a:p>
            <a:p>
              <a:pPr>
                <a:defRPr sz="1200">
                  <a:solidFill>
                    <a:srgbClr val="E6E6E6"/>
                  </a:solidFill>
                  <a:latin typeface="Courier New"/>
                  <a:ea typeface="Courier New"/>
                  <a:cs typeface="Courier New"/>
                  <a:sym typeface="Courier New"/>
                </a:defRPr>
              </a:pPr>
              <a:r>
                <a:t>  add_entries(10);</a:t>
              </a:r>
            </a:p>
            <a:p>
              <a:pPr>
                <a:defRPr sz="1200">
                  <a:solidFill>
                    <a:srgbClr val="E6E6E6"/>
                  </a:solidFill>
                  <a:latin typeface="Courier New"/>
                  <a:ea typeface="Courier New"/>
                  <a:cs typeface="Courier New"/>
                  <a:sym typeface="Courier New"/>
                </a:defRPr>
              </a:pPr>
              <a:r>
                <a:t>  ASSERT_EQ(collection-&gt;size(), 10);</a:t>
              </a:r>
            </a:p>
            <a:p>
              <a:pPr>
                <a:defRPr sz="1200">
                  <a:solidFill>
                    <a:srgbClr val="E6E6E6"/>
                  </a:solidFill>
                  <a:latin typeface="Courier New"/>
                  <a:ea typeface="Courier New"/>
                  <a:cs typeface="Courier New"/>
                  <a:sym typeface="Courier New"/>
                </a:defRPr>
              </a:pPr>
              <a:r>
                <a:t> </a:t>
              </a:r>
            </a:p>
            <a:p>
              <a:pPr>
                <a:defRPr sz="1200">
                  <a:solidFill>
                    <a:srgbClr val="E6E6E6"/>
                  </a:solidFill>
                  <a:latin typeface="Courier New"/>
                  <a:ea typeface="Courier New"/>
                  <a:cs typeface="Courier New"/>
                  <a:sym typeface="Courier New"/>
                </a:defRPr>
              </a:pPr>
              <a:r>
                <a:t>  collection-&gt;erase(collection-&gt;begin(),</a:t>
              </a:r>
            </a:p>
            <a:p>
              <a:pPr>
                <a:defRPr sz="1200">
                  <a:solidFill>
                    <a:srgbClr val="E6E6E6"/>
                  </a:solidFill>
                  <a:latin typeface="Courier New"/>
                  <a:ea typeface="Courier New"/>
                  <a:cs typeface="Courier New"/>
                  <a:sym typeface="Courier New"/>
                </a:defRPr>
              </a:pPr>
              <a:r>
                <a:t>                    collection-&gt;end());</a:t>
              </a:r>
            </a:p>
            <a:p>
              <a:pPr>
                <a:defRPr sz="1200">
                  <a:solidFill>
                    <a:srgbClr val="E6E6E6"/>
                  </a:solidFill>
                  <a:latin typeface="Courier New"/>
                  <a:ea typeface="Courier New"/>
                  <a:cs typeface="Courier New"/>
                  <a:sym typeface="Courier New"/>
                </a:defRPr>
              </a:pPr>
              <a:r>
                <a:t> </a:t>
              </a:r>
            </a:p>
            <a:p>
              <a:pPr>
                <a:defRPr sz="1200">
                  <a:solidFill>
                    <a:srgbClr val="E6E6E6"/>
                  </a:solidFill>
                  <a:latin typeface="Courier New"/>
                  <a:ea typeface="Courier New"/>
                  <a:cs typeface="Courier New"/>
                  <a:sym typeface="Courier New"/>
                </a:defRPr>
              </a:pPr>
              <a:r>
                <a:t>  EXPECT_EQ(collection-&gt;size(), 0);</a:t>
              </a:r>
            </a:p>
            <a:p>
              <a:pPr>
                <a:defRPr sz="1200">
                  <a:solidFill>
                    <a:srgbClr val="E6E6E6"/>
                  </a:solidFill>
                  <a:latin typeface="Courier New"/>
                  <a:ea typeface="Courier New"/>
                  <a:cs typeface="Courier New"/>
                  <a:sym typeface="Courier New"/>
                </a:defRPr>
              </a:pPr>
              <a:r>
                <a:t>  EXPECT_TRUE(collection-&gt;empty());</a:t>
              </a:r>
            </a:p>
            <a:p>
              <a:pPr>
                <a:defRPr sz="1200">
                  <a:solidFill>
                    <a:srgbClr val="E6E6E6"/>
                  </a:solidFill>
                  <a:latin typeface="Courier New"/>
                  <a:ea typeface="Courier New"/>
                  <a:cs typeface="Courier New"/>
                  <a:sym typeface="Courier New"/>
                </a:defRPr>
              </a:pPr>
              <a:r>
                <a:t>}</a:t>
              </a:r>
            </a:p>
          </p:txBody>
        </p:sp>
      </p:grpSp>
      <p:pic>
        <p:nvPicPr>
          <p:cNvPr id="291" name="Picture 2027" descr="Picture 2027"/>
          <p:cNvPicPr>
            <a:picLocks noChangeAspect="1"/>
          </p:cNvPicPr>
          <p:nvPr/>
        </p:nvPicPr>
        <p:blipFill>
          <a:blip r:embed="rId3">
            <a:extLst/>
          </a:blip>
          <a:stretch>
            <a:fillRect/>
          </a:stretch>
        </p:blipFill>
        <p:spPr>
          <a:xfrm>
            <a:off x="685800" y="4617720"/>
            <a:ext cx="5669280" cy="716121"/>
          </a:xfrm>
          <a:prstGeom prst="rect">
            <a:avLst/>
          </a:prstGeom>
          <a:ln w="12700">
            <a:solidFill>
              <a:srgbClr val="4A4A4A"/>
            </a:solidFill>
          </a:ln>
        </p:spPr>
      </p:pic>
      <p:grpSp>
        <p:nvGrpSpPr>
          <p:cNvPr id="294" name="Test type 2028"/>
          <p:cNvGrpSpPr/>
          <p:nvPr/>
        </p:nvGrpSpPr>
        <p:grpSpPr>
          <a:xfrm>
            <a:off x="6629400" y="2148839"/>
            <a:ext cx="1828800" cy="384049"/>
            <a:chOff x="0" y="0"/>
            <a:chExt cx="1828800" cy="384047"/>
          </a:xfrm>
        </p:grpSpPr>
        <p:sp>
          <p:nvSpPr>
            <p:cNvPr id="292" name="Rounded Rectangle"/>
            <p:cNvSpPr/>
            <p:nvPr/>
          </p:nvSpPr>
          <p:spPr>
            <a:xfrm>
              <a:off x="0" y="0"/>
              <a:ext cx="1828800" cy="384048"/>
            </a:xfrm>
            <a:prstGeom prst="roundRect">
              <a:avLst>
                <a:gd name="adj" fmla="val 6000"/>
              </a:avLst>
            </a:prstGeom>
            <a:solidFill>
              <a:srgbClr val="3E6B23"/>
            </a:solidFill>
            <a:ln w="12700" cap="flat">
              <a:noFill/>
              <a:miter lim="400000"/>
            </a:ln>
            <a:effectLst/>
          </p:spPr>
          <p:txBody>
            <a:bodyPr wrap="square" lIns="45719" tIns="45719" rIns="45719" bIns="45719" numCol="1" anchor="ctr">
              <a:noAutofit/>
            </a:bodyPr>
            <a:lstStyle/>
            <a:p>
              <a:pPr algn="ctr"/>
            </a:p>
          </p:txBody>
        </p:sp>
        <p:sp>
          <p:nvSpPr>
            <p:cNvPr id="293" name="Positive test"/>
            <p:cNvSpPr txBox="1"/>
            <p:nvPr/>
          </p:nvSpPr>
          <p:spPr>
            <a:xfrm>
              <a:off x="6749" y="53754"/>
              <a:ext cx="1815302" cy="276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300">
                  <a:solidFill>
                    <a:srgbClr val="FFFFFF"/>
                  </a:solidFill>
                </a:defRPr>
              </a:lvl1pPr>
            </a:lstStyle>
            <a:p>
              <a:pPr/>
              <a:r>
                <a:t>Positive test</a:t>
              </a:r>
            </a:p>
          </p:txBody>
        </p:sp>
      </p:grpSp>
      <p:sp>
        <p:nvSpPr>
          <p:cNvPr id="295" name="Test explanation 2029"/>
          <p:cNvSpPr txBox="1"/>
          <p:nvPr/>
        </p:nvSpPr>
        <p:spPr>
          <a:xfrm>
            <a:off x="6629400" y="2697479"/>
            <a:ext cx="4343400" cy="16379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spcBef>
                <a:spcPts val="400"/>
              </a:spcBef>
              <a:defRPr b="1" sz="1500">
                <a:solidFill>
                  <a:srgbClr val="8DC63F"/>
                </a:solidFill>
              </a:defRPr>
            </a:pPr>
            <a:r>
              <a:t>What it proves</a:t>
            </a:r>
          </a:p>
          <a:p>
            <a:pPr>
              <a:spcBef>
                <a:spcPts val="900"/>
              </a:spcBef>
              <a:defRPr sz="1300">
                <a:solidFill>
                  <a:srgbClr val="FFFFFF"/>
                </a:solidFill>
              </a:defRPr>
            </a:pPr>
            <a:r>
              <a:t>Proves erasing the full range leaves nothing behind</a:t>
            </a:r>
          </a:p>
          <a:p>
            <a:pPr>
              <a:spcBef>
                <a:spcPts val="400"/>
              </a:spcBef>
              <a:defRPr b="1" sz="1500">
                <a:solidFill>
                  <a:srgbClr val="8DC63F"/>
                </a:solidFill>
              </a:defRPr>
            </a:pPr>
            <a:r>
              <a:t>Taking it a step further</a:t>
            </a:r>
          </a:p>
          <a:p>
            <a:pPr marL="285750" indent="-285750">
              <a:spcBef>
                <a:spcPts val="400"/>
              </a:spcBef>
              <a:buClr>
                <a:srgbClr val="8DC63F"/>
              </a:buClr>
              <a:buSzPct val="100000"/>
              <a:buFont typeface="Arial"/>
              <a:buChar char="•"/>
              <a:defRPr sz="1300">
                <a:solidFill>
                  <a:srgbClr val="FFFFFF"/>
                </a:solidFill>
              </a:defRPr>
            </a:pPr>
            <a:r>
              <a:t>Erase a partial range and check the leftover values</a:t>
            </a:r>
          </a:p>
          <a:p>
            <a:pPr marL="285750" indent="-285750">
              <a:spcBef>
                <a:spcPts val="400"/>
              </a:spcBef>
              <a:buClr>
                <a:srgbClr val="8DC63F"/>
              </a:buClr>
              <a:buSzPct val="100000"/>
              <a:buFont typeface="Arial"/>
              <a:buChar char="•"/>
              <a:defRPr sz="1300">
                <a:solidFill>
                  <a:srgbClr val="FFFFFF"/>
                </a:solidFill>
              </a:defRPr>
            </a:pPr>
            <a:r>
              <a:t>Run it under AddressSanitizer to prove nothing touches freed memory</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Google Shape;174;p6"/>
          <p:cNvSpPr txBox="1"/>
          <p:nvPr>
            <p:ph type="title"/>
          </p:nvPr>
        </p:nvSpPr>
        <p:spPr>
          <a:xfrm>
            <a:off x="2895600" y="764373"/>
            <a:ext cx="8610600" cy="1293028"/>
          </a:xfrm>
          <a:prstGeom prst="rect">
            <a:avLst/>
          </a:prstGeom>
        </p:spPr>
        <p:txBody>
          <a:bodyPr/>
          <a:lstStyle>
            <a:lvl1pPr>
              <a:defRPr sz="2600"/>
            </a:lvl1pPr>
          </a:lstStyle>
          <a:p>
            <a:pPr/>
            <a:r>
              <a:t>Does push_back store the exact value it was given?</a:t>
            </a:r>
          </a:p>
        </p:txBody>
      </p:sp>
      <p:pic>
        <p:nvPicPr>
          <p:cNvPr id="298" name="Google Shape;176;p6" descr="Google Shape;176;p6"/>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grpSp>
        <p:nvGrpSpPr>
          <p:cNvPr id="301" name="Test code 2030"/>
          <p:cNvGrpSpPr/>
          <p:nvPr/>
        </p:nvGrpSpPr>
        <p:grpSpPr>
          <a:xfrm>
            <a:off x="604193" y="2099876"/>
            <a:ext cx="5669281" cy="2331721"/>
            <a:chOff x="0" y="0"/>
            <a:chExt cx="5669279" cy="2331720"/>
          </a:xfrm>
        </p:grpSpPr>
        <p:sp>
          <p:nvSpPr>
            <p:cNvPr id="299" name="Rectangle"/>
            <p:cNvSpPr/>
            <p:nvPr/>
          </p:nvSpPr>
          <p:spPr>
            <a:xfrm>
              <a:off x="0" y="-1"/>
              <a:ext cx="5669280" cy="2331722"/>
            </a:xfrm>
            <a:prstGeom prst="rect">
              <a:avLst/>
            </a:prstGeom>
            <a:solidFill>
              <a:srgbClr val="151515"/>
            </a:solidFill>
            <a:ln w="12700" cap="flat">
              <a:solidFill>
                <a:srgbClr val="4A4A4A"/>
              </a:solidFill>
              <a:prstDash val="solid"/>
              <a:round/>
            </a:ln>
            <a:effectLst/>
          </p:spPr>
          <p:txBody>
            <a:bodyPr wrap="square" lIns="45719" tIns="45719" rIns="45719" bIns="45719" numCol="1" anchor="t">
              <a:noAutofit/>
            </a:bodyPr>
            <a:lstStyle/>
            <a:p>
              <a:pPr/>
            </a:p>
          </p:txBody>
        </p:sp>
        <p:sp>
          <p:nvSpPr>
            <p:cNvPr id="300" name="TEST_F(CollectionTest,…"/>
            <p:cNvSpPr txBox="1"/>
            <p:nvPr/>
          </p:nvSpPr>
          <p:spPr>
            <a:xfrm>
              <a:off x="6350" y="6349"/>
              <a:ext cx="5656580" cy="16052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p>
              <a:pPr>
                <a:defRPr sz="1200">
                  <a:solidFill>
                    <a:srgbClr val="E6E6E6"/>
                  </a:solidFill>
                  <a:latin typeface="Courier New"/>
                  <a:ea typeface="Courier New"/>
                  <a:cs typeface="Courier New"/>
                  <a:sym typeface="Courier New"/>
                </a:defRPr>
              </a:pPr>
              <a:r>
                <a:t>TEST_F(CollectionTest,</a:t>
              </a:r>
            </a:p>
            <a:p>
              <a:pPr>
                <a:defRPr sz="1200">
                  <a:solidFill>
                    <a:srgbClr val="E6E6E6"/>
                  </a:solidFill>
                  <a:latin typeface="Courier New"/>
                  <a:ea typeface="Courier New"/>
                  <a:cs typeface="Courier New"/>
                  <a:sym typeface="Courier New"/>
                </a:defRPr>
              </a:pPr>
              <a:r>
                <a:t>       PushBackIncreasesSizeAndStoresCorrectValue)</a:t>
              </a:r>
            </a:p>
            <a:p>
              <a:pPr>
                <a:defRPr sz="1200">
                  <a:solidFill>
                    <a:srgbClr val="E6E6E6"/>
                  </a:solidFill>
                  <a:latin typeface="Courier New"/>
                  <a:ea typeface="Courier New"/>
                  <a:cs typeface="Courier New"/>
                  <a:sym typeface="Courier New"/>
                </a:defRPr>
              </a:pPr>
              <a:r>
                <a:t>{</a:t>
              </a:r>
            </a:p>
            <a:p>
              <a:pPr>
                <a:defRPr sz="1200">
                  <a:solidFill>
                    <a:srgbClr val="E6E6E6"/>
                  </a:solidFill>
                  <a:latin typeface="Courier New"/>
                  <a:ea typeface="Courier New"/>
                  <a:cs typeface="Courier New"/>
                  <a:sym typeface="Courier New"/>
                </a:defRPr>
              </a:pPr>
              <a:r>
                <a:t>  collection-&gt;push_back(42);</a:t>
              </a:r>
            </a:p>
            <a:p>
              <a:pPr>
                <a:defRPr sz="1200">
                  <a:solidFill>
                    <a:srgbClr val="E6E6E6"/>
                  </a:solidFill>
                  <a:latin typeface="Courier New"/>
                  <a:ea typeface="Courier New"/>
                  <a:cs typeface="Courier New"/>
                  <a:sym typeface="Courier New"/>
                </a:defRPr>
              </a:pPr>
              <a:r>
                <a:t> </a:t>
              </a:r>
            </a:p>
            <a:p>
              <a:pPr>
                <a:defRPr sz="1200">
                  <a:solidFill>
                    <a:srgbClr val="E6E6E6"/>
                  </a:solidFill>
                  <a:latin typeface="Courier New"/>
                  <a:ea typeface="Courier New"/>
                  <a:cs typeface="Courier New"/>
                  <a:sym typeface="Courier New"/>
                </a:defRPr>
              </a:pPr>
              <a:r>
                <a:t>  EXPECT_EQ(collection-&gt;size(), 1);</a:t>
              </a:r>
            </a:p>
            <a:p>
              <a:pPr>
                <a:defRPr sz="1200">
                  <a:solidFill>
                    <a:srgbClr val="E6E6E6"/>
                  </a:solidFill>
                  <a:latin typeface="Courier New"/>
                  <a:ea typeface="Courier New"/>
                  <a:cs typeface="Courier New"/>
                  <a:sym typeface="Courier New"/>
                </a:defRPr>
              </a:pPr>
              <a:r>
                <a:t>  EXPECT_EQ(collection-&gt;at(0), 42);</a:t>
              </a:r>
            </a:p>
            <a:p>
              <a:pPr>
                <a:defRPr sz="1200">
                  <a:solidFill>
                    <a:srgbClr val="E6E6E6"/>
                  </a:solidFill>
                  <a:latin typeface="Courier New"/>
                  <a:ea typeface="Courier New"/>
                  <a:cs typeface="Courier New"/>
                  <a:sym typeface="Courier New"/>
                </a:defRPr>
              </a:pPr>
              <a:r>
                <a:t>}</a:t>
              </a:r>
            </a:p>
          </p:txBody>
        </p:sp>
      </p:grpSp>
      <p:pic>
        <p:nvPicPr>
          <p:cNvPr id="302" name="Picture 2031" descr="Picture 2031"/>
          <p:cNvPicPr>
            <a:picLocks noChangeAspect="1"/>
          </p:cNvPicPr>
          <p:nvPr/>
        </p:nvPicPr>
        <p:blipFill>
          <a:blip r:embed="rId3">
            <a:extLst/>
          </a:blip>
          <a:stretch>
            <a:fillRect/>
          </a:stretch>
        </p:blipFill>
        <p:spPr>
          <a:xfrm>
            <a:off x="685800" y="4617720"/>
            <a:ext cx="5669280" cy="716121"/>
          </a:xfrm>
          <a:prstGeom prst="rect">
            <a:avLst/>
          </a:prstGeom>
          <a:ln w="12700">
            <a:solidFill>
              <a:srgbClr val="4A4A4A"/>
            </a:solidFill>
          </a:ln>
        </p:spPr>
      </p:pic>
      <p:grpSp>
        <p:nvGrpSpPr>
          <p:cNvPr id="305" name="Test type 2032"/>
          <p:cNvGrpSpPr/>
          <p:nvPr/>
        </p:nvGrpSpPr>
        <p:grpSpPr>
          <a:xfrm>
            <a:off x="6629400" y="2148839"/>
            <a:ext cx="1828800" cy="384049"/>
            <a:chOff x="0" y="0"/>
            <a:chExt cx="1828800" cy="384047"/>
          </a:xfrm>
        </p:grpSpPr>
        <p:sp>
          <p:nvSpPr>
            <p:cNvPr id="303" name="Rounded Rectangle"/>
            <p:cNvSpPr/>
            <p:nvPr/>
          </p:nvSpPr>
          <p:spPr>
            <a:xfrm>
              <a:off x="0" y="0"/>
              <a:ext cx="1828800" cy="384048"/>
            </a:xfrm>
            <a:prstGeom prst="roundRect">
              <a:avLst>
                <a:gd name="adj" fmla="val 6000"/>
              </a:avLst>
            </a:prstGeom>
            <a:solidFill>
              <a:srgbClr val="3E6B23"/>
            </a:solidFill>
            <a:ln w="12700" cap="flat">
              <a:noFill/>
              <a:miter lim="400000"/>
            </a:ln>
            <a:effectLst/>
          </p:spPr>
          <p:txBody>
            <a:bodyPr wrap="square" lIns="45719" tIns="45719" rIns="45719" bIns="45719" numCol="1" anchor="ctr">
              <a:noAutofit/>
            </a:bodyPr>
            <a:lstStyle/>
            <a:p>
              <a:pPr algn="ctr"/>
            </a:p>
          </p:txBody>
        </p:sp>
        <p:sp>
          <p:nvSpPr>
            <p:cNvPr id="304" name="Positive test"/>
            <p:cNvSpPr txBox="1"/>
            <p:nvPr/>
          </p:nvSpPr>
          <p:spPr>
            <a:xfrm>
              <a:off x="6749" y="53754"/>
              <a:ext cx="1815302" cy="276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300">
                  <a:solidFill>
                    <a:srgbClr val="FFFFFF"/>
                  </a:solidFill>
                </a:defRPr>
              </a:lvl1pPr>
            </a:lstStyle>
            <a:p>
              <a:pPr/>
              <a:r>
                <a:t>Positive test</a:t>
              </a:r>
            </a:p>
          </p:txBody>
        </p:sp>
      </p:grpSp>
      <p:sp>
        <p:nvSpPr>
          <p:cNvPr id="306" name="Test explanation 2033"/>
          <p:cNvSpPr txBox="1"/>
          <p:nvPr/>
        </p:nvSpPr>
        <p:spPr>
          <a:xfrm>
            <a:off x="6629400" y="2697479"/>
            <a:ext cx="4343400" cy="22094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spcBef>
                <a:spcPts val="400"/>
              </a:spcBef>
              <a:defRPr b="1" sz="1500">
                <a:solidFill>
                  <a:srgbClr val="8DC63F"/>
                </a:solidFill>
              </a:defRPr>
            </a:pPr>
            <a:r>
              <a:t>What it proves</a:t>
            </a:r>
          </a:p>
          <a:p>
            <a:pPr>
              <a:spcBef>
                <a:spcPts val="900"/>
              </a:spcBef>
              <a:defRPr sz="1300">
                <a:solidFill>
                  <a:srgbClr val="FFFFFF"/>
                </a:solidFill>
              </a:defRPr>
            </a:pPr>
            <a:r>
              <a:t>Proves the value lands in the right spot and not just that the size grew</a:t>
            </a:r>
          </a:p>
          <a:p>
            <a:pPr>
              <a:spcBef>
                <a:spcPts val="400"/>
              </a:spcBef>
              <a:defRPr b="1" sz="1500">
                <a:solidFill>
                  <a:srgbClr val="8DC63F"/>
                </a:solidFill>
              </a:defRPr>
            </a:pPr>
            <a:r>
              <a:t>Taking it a step further</a:t>
            </a:r>
          </a:p>
          <a:p>
            <a:pPr marL="285750" indent="-285750">
              <a:spcBef>
                <a:spcPts val="400"/>
              </a:spcBef>
              <a:buClr>
                <a:srgbClr val="8DC63F"/>
              </a:buClr>
              <a:buSzPct val="100000"/>
              <a:buFont typeface="Arial"/>
              <a:buChar char="•"/>
              <a:defRPr sz="1300">
                <a:solidFill>
                  <a:srgbClr val="FFFFFF"/>
                </a:solidFill>
              </a:defRPr>
            </a:pPr>
            <a:r>
              <a:t>Push many values in a loop and check every one stays in order</a:t>
            </a:r>
            <a:br/>
          </a:p>
          <a:p>
            <a:pPr marL="285750" indent="-285750">
              <a:spcBef>
                <a:spcPts val="400"/>
              </a:spcBef>
              <a:buClr>
                <a:srgbClr val="8DC63F"/>
              </a:buClr>
              <a:buSzPct val="100000"/>
              <a:buFont typeface="Arial"/>
              <a:buChar char="•"/>
              <a:defRPr sz="1300">
                <a:solidFill>
                  <a:srgbClr val="FFFFFF"/>
                </a:solidFill>
              </a:defRPr>
            </a:pPr>
            <a:r>
              <a:t>Use at() instead of [ ] in checks so a bad index throws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Google Shape;174;p6"/>
          <p:cNvSpPr txBox="1"/>
          <p:nvPr>
            <p:ph type="title"/>
          </p:nvPr>
        </p:nvSpPr>
        <p:spPr>
          <a:xfrm>
            <a:off x="2895600" y="764373"/>
            <a:ext cx="8610600" cy="1293028"/>
          </a:xfrm>
          <a:prstGeom prst="rect">
            <a:avLst/>
          </a:prstGeom>
        </p:spPr>
        <p:txBody>
          <a:bodyPr/>
          <a:lstStyle>
            <a:lvl1pPr>
              <a:defRPr sz="2600"/>
            </a:lvl1pPr>
          </a:lstStyle>
          <a:p>
            <a:pPr/>
            <a:r>
              <a:t>Does at() throw out_of_range for an invalid index?</a:t>
            </a:r>
          </a:p>
        </p:txBody>
      </p:sp>
      <p:pic>
        <p:nvPicPr>
          <p:cNvPr id="309" name="Google Shape;176;p6" descr="Google Shape;176;p6"/>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grpSp>
        <p:nvGrpSpPr>
          <p:cNvPr id="312" name="Test code 2034"/>
          <p:cNvGrpSpPr/>
          <p:nvPr/>
        </p:nvGrpSpPr>
        <p:grpSpPr>
          <a:xfrm>
            <a:off x="685800" y="2148839"/>
            <a:ext cx="5669280" cy="2331721"/>
            <a:chOff x="0" y="0"/>
            <a:chExt cx="5669279" cy="2331720"/>
          </a:xfrm>
        </p:grpSpPr>
        <p:sp>
          <p:nvSpPr>
            <p:cNvPr id="310" name="Rectangle"/>
            <p:cNvSpPr/>
            <p:nvPr/>
          </p:nvSpPr>
          <p:spPr>
            <a:xfrm>
              <a:off x="0" y="-1"/>
              <a:ext cx="5669280" cy="2331722"/>
            </a:xfrm>
            <a:prstGeom prst="rect">
              <a:avLst/>
            </a:prstGeom>
            <a:solidFill>
              <a:srgbClr val="151515"/>
            </a:solidFill>
            <a:ln w="12700" cap="flat">
              <a:solidFill>
                <a:srgbClr val="4A4A4A"/>
              </a:solidFill>
              <a:prstDash val="solid"/>
              <a:round/>
            </a:ln>
            <a:effectLst/>
          </p:spPr>
          <p:txBody>
            <a:bodyPr wrap="square" lIns="45719" tIns="45719" rIns="45719" bIns="45719" numCol="1" anchor="t">
              <a:noAutofit/>
            </a:bodyPr>
            <a:lstStyle/>
            <a:p>
              <a:pPr/>
            </a:p>
          </p:txBody>
        </p:sp>
        <p:sp>
          <p:nvSpPr>
            <p:cNvPr id="311" name="TEST_F(CollectionTest,…"/>
            <p:cNvSpPr txBox="1"/>
            <p:nvPr/>
          </p:nvSpPr>
          <p:spPr>
            <a:xfrm>
              <a:off x="6350" y="6349"/>
              <a:ext cx="5656580" cy="1249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p>
              <a:pPr>
                <a:defRPr sz="1200">
                  <a:solidFill>
                    <a:srgbClr val="E6E6E6"/>
                  </a:solidFill>
                  <a:latin typeface="Courier New"/>
                  <a:ea typeface="Courier New"/>
                  <a:cs typeface="Courier New"/>
                  <a:sym typeface="Courier New"/>
                </a:defRPr>
              </a:pPr>
              <a:r>
                <a:t>TEST_F(CollectionTest,</a:t>
              </a:r>
            </a:p>
            <a:p>
              <a:pPr>
                <a:defRPr sz="1200">
                  <a:solidFill>
                    <a:srgbClr val="E6E6E6"/>
                  </a:solidFill>
                  <a:latin typeface="Courier New"/>
                  <a:ea typeface="Courier New"/>
                  <a:cs typeface="Courier New"/>
                  <a:sym typeface="Courier New"/>
                </a:defRPr>
              </a:pPr>
              <a:r>
                <a:t>       AtThrowsOutOfRangeWhenIndexIsInvalid)</a:t>
              </a:r>
            </a:p>
            <a:p>
              <a:pPr>
                <a:defRPr sz="1200">
                  <a:solidFill>
                    <a:srgbClr val="E6E6E6"/>
                  </a:solidFill>
                  <a:latin typeface="Courier New"/>
                  <a:ea typeface="Courier New"/>
                  <a:cs typeface="Courier New"/>
                  <a:sym typeface="Courier New"/>
                </a:defRPr>
              </a:pPr>
              <a:r>
                <a:t>{</a:t>
              </a:r>
            </a:p>
            <a:p>
              <a:pPr>
                <a:defRPr sz="1200">
                  <a:solidFill>
                    <a:srgbClr val="E6E6E6"/>
                  </a:solidFill>
                  <a:latin typeface="Courier New"/>
                  <a:ea typeface="Courier New"/>
                  <a:cs typeface="Courier New"/>
                  <a:sym typeface="Courier New"/>
                </a:defRPr>
              </a:pPr>
              <a:r>
                <a:t>  EXPECT_THROW(collection-&gt;at(1),</a:t>
              </a:r>
            </a:p>
            <a:p>
              <a:pPr>
                <a:defRPr sz="1200">
                  <a:solidFill>
                    <a:srgbClr val="E6E6E6"/>
                  </a:solidFill>
                  <a:latin typeface="Courier New"/>
                  <a:ea typeface="Courier New"/>
                  <a:cs typeface="Courier New"/>
                  <a:sym typeface="Courier New"/>
                </a:defRPr>
              </a:pPr>
              <a:r>
                <a:t>               std::out_of_range);</a:t>
              </a:r>
            </a:p>
            <a:p>
              <a:pPr>
                <a:defRPr sz="1200">
                  <a:solidFill>
                    <a:srgbClr val="E6E6E6"/>
                  </a:solidFill>
                  <a:latin typeface="Courier New"/>
                  <a:ea typeface="Courier New"/>
                  <a:cs typeface="Courier New"/>
                  <a:sym typeface="Courier New"/>
                </a:defRPr>
              </a:pPr>
              <a:r>
                <a:t>}</a:t>
              </a:r>
            </a:p>
          </p:txBody>
        </p:sp>
      </p:grpSp>
      <p:pic>
        <p:nvPicPr>
          <p:cNvPr id="313" name="Picture 2035" descr="Picture 2035"/>
          <p:cNvPicPr>
            <a:picLocks noChangeAspect="1"/>
          </p:cNvPicPr>
          <p:nvPr/>
        </p:nvPicPr>
        <p:blipFill>
          <a:blip r:embed="rId3">
            <a:extLst/>
          </a:blip>
          <a:stretch>
            <a:fillRect/>
          </a:stretch>
        </p:blipFill>
        <p:spPr>
          <a:xfrm>
            <a:off x="685800" y="4617720"/>
            <a:ext cx="5669280" cy="716121"/>
          </a:xfrm>
          <a:prstGeom prst="rect">
            <a:avLst/>
          </a:prstGeom>
          <a:ln w="12700">
            <a:solidFill>
              <a:srgbClr val="4A4A4A"/>
            </a:solidFill>
          </a:ln>
        </p:spPr>
      </p:pic>
      <p:grpSp>
        <p:nvGrpSpPr>
          <p:cNvPr id="316" name="Test type 2036"/>
          <p:cNvGrpSpPr/>
          <p:nvPr/>
        </p:nvGrpSpPr>
        <p:grpSpPr>
          <a:xfrm>
            <a:off x="6629400" y="2148839"/>
            <a:ext cx="1828800" cy="384049"/>
            <a:chOff x="0" y="0"/>
            <a:chExt cx="1828800" cy="384047"/>
          </a:xfrm>
        </p:grpSpPr>
        <p:sp>
          <p:nvSpPr>
            <p:cNvPr id="314" name="Rounded Rectangle"/>
            <p:cNvSpPr/>
            <p:nvPr/>
          </p:nvSpPr>
          <p:spPr>
            <a:xfrm>
              <a:off x="0" y="0"/>
              <a:ext cx="1828800" cy="384048"/>
            </a:xfrm>
            <a:prstGeom prst="roundRect">
              <a:avLst>
                <a:gd name="adj" fmla="val 6000"/>
              </a:avLst>
            </a:prstGeom>
            <a:solidFill>
              <a:srgbClr val="8B2E2A"/>
            </a:solidFill>
            <a:ln w="12700" cap="flat">
              <a:noFill/>
              <a:miter lim="400000"/>
            </a:ln>
            <a:effectLst/>
          </p:spPr>
          <p:txBody>
            <a:bodyPr wrap="square" lIns="45719" tIns="45719" rIns="45719" bIns="45719" numCol="1" anchor="ctr">
              <a:noAutofit/>
            </a:bodyPr>
            <a:lstStyle/>
            <a:p>
              <a:pPr algn="ctr"/>
            </a:p>
          </p:txBody>
        </p:sp>
        <p:sp>
          <p:nvSpPr>
            <p:cNvPr id="315" name="Negative test"/>
            <p:cNvSpPr txBox="1"/>
            <p:nvPr/>
          </p:nvSpPr>
          <p:spPr>
            <a:xfrm>
              <a:off x="6749" y="53754"/>
              <a:ext cx="1815302" cy="276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300">
                  <a:solidFill>
                    <a:srgbClr val="FFFFFF"/>
                  </a:solidFill>
                </a:defRPr>
              </a:lvl1pPr>
            </a:lstStyle>
            <a:p>
              <a:pPr/>
              <a:r>
                <a:t>Negative test</a:t>
              </a:r>
            </a:p>
          </p:txBody>
        </p:sp>
      </p:grpSp>
      <p:sp>
        <p:nvSpPr>
          <p:cNvPr id="317" name="Test explanation 2037"/>
          <p:cNvSpPr txBox="1"/>
          <p:nvPr/>
        </p:nvSpPr>
        <p:spPr>
          <a:xfrm>
            <a:off x="6629400" y="2697479"/>
            <a:ext cx="4343400" cy="20189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spcBef>
                <a:spcPts val="400"/>
              </a:spcBef>
              <a:defRPr b="1" sz="1500">
                <a:solidFill>
                  <a:srgbClr val="8DC63F"/>
                </a:solidFill>
              </a:defRPr>
            </a:pPr>
            <a:r>
              <a:t>What it proves</a:t>
            </a:r>
          </a:p>
          <a:p>
            <a:pPr>
              <a:spcBef>
                <a:spcPts val="900"/>
              </a:spcBef>
              <a:defRPr sz="1300">
                <a:solidFill>
                  <a:srgbClr val="FFFFFF"/>
                </a:solidFill>
              </a:defRPr>
            </a:pPr>
            <a:r>
              <a:t>Proves a bad index throws instead of reading memory it doesntt own</a:t>
            </a:r>
          </a:p>
          <a:p>
            <a:pPr>
              <a:spcBef>
                <a:spcPts val="400"/>
              </a:spcBef>
              <a:defRPr b="1" sz="1500">
                <a:solidFill>
                  <a:srgbClr val="8DC63F"/>
                </a:solidFill>
              </a:defRPr>
            </a:pPr>
            <a:r>
              <a:t>Taking it a step further</a:t>
            </a:r>
          </a:p>
          <a:p>
            <a:pPr marL="285750" indent="-285750">
              <a:spcBef>
                <a:spcPts val="400"/>
              </a:spcBef>
              <a:buClr>
                <a:srgbClr val="8DC63F"/>
              </a:buClr>
              <a:buSzPct val="100000"/>
              <a:buFont typeface="Arial"/>
              <a:buChar char="•"/>
              <a:defRPr sz="1300">
                <a:solidFill>
                  <a:srgbClr val="FFFFFF"/>
                </a:solidFill>
              </a:defRPr>
            </a:pPr>
            <a:r>
              <a:t>Also test an index equal to size, the classic off by one</a:t>
            </a:r>
          </a:p>
          <a:p>
            <a:pPr marL="285750" indent="-285750">
              <a:spcBef>
                <a:spcPts val="400"/>
              </a:spcBef>
              <a:buClr>
                <a:srgbClr val="8DC63F"/>
              </a:buClr>
              <a:buSzPct val="100000"/>
              <a:buFont typeface="Arial"/>
              <a:buChar char="•"/>
              <a:defRPr sz="1300">
                <a:solidFill>
                  <a:srgbClr val="FFFFFF"/>
                </a:solidFill>
              </a:defRPr>
            </a:pPr>
            <a:r>
              <a:t>Fuzz the index with random values to cover more cases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9" name="Google Shape;174;p6"/>
          <p:cNvSpPr txBox="1"/>
          <p:nvPr>
            <p:ph type="title"/>
          </p:nvPr>
        </p:nvSpPr>
        <p:spPr>
          <a:xfrm>
            <a:off x="2895600" y="764373"/>
            <a:ext cx="8610600" cy="1293028"/>
          </a:xfrm>
          <a:prstGeom prst="rect">
            <a:avLst/>
          </a:prstGeom>
        </p:spPr>
        <p:txBody>
          <a:bodyPr/>
          <a:lstStyle>
            <a:lvl1pPr>
              <a:defRPr sz="2600"/>
            </a:lvl1pPr>
          </a:lstStyle>
          <a:p>
            <a:pPr/>
            <a:r>
              <a:t>Does resizing past max_size throw length_error?</a:t>
            </a:r>
          </a:p>
        </p:txBody>
      </p:sp>
      <p:pic>
        <p:nvPicPr>
          <p:cNvPr id="320" name="Google Shape;176;p6" descr="Google Shape;176;p6"/>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grpSp>
        <p:nvGrpSpPr>
          <p:cNvPr id="323" name="Test code 2038"/>
          <p:cNvGrpSpPr/>
          <p:nvPr/>
        </p:nvGrpSpPr>
        <p:grpSpPr>
          <a:xfrm>
            <a:off x="685799" y="1977466"/>
            <a:ext cx="5669281" cy="2331721"/>
            <a:chOff x="0" y="0"/>
            <a:chExt cx="5669279" cy="2331720"/>
          </a:xfrm>
        </p:grpSpPr>
        <p:sp>
          <p:nvSpPr>
            <p:cNvPr id="321" name="Rectangle"/>
            <p:cNvSpPr/>
            <p:nvPr/>
          </p:nvSpPr>
          <p:spPr>
            <a:xfrm>
              <a:off x="0" y="-1"/>
              <a:ext cx="5669280" cy="2331722"/>
            </a:xfrm>
            <a:prstGeom prst="rect">
              <a:avLst/>
            </a:prstGeom>
            <a:solidFill>
              <a:srgbClr val="151515"/>
            </a:solidFill>
            <a:ln w="12700" cap="flat">
              <a:solidFill>
                <a:srgbClr val="4A4A4A"/>
              </a:solidFill>
              <a:prstDash val="solid"/>
              <a:round/>
            </a:ln>
            <a:effectLst/>
          </p:spPr>
          <p:txBody>
            <a:bodyPr wrap="square" lIns="45719" tIns="45719" rIns="45719" bIns="45719" numCol="1" anchor="t">
              <a:noAutofit/>
            </a:bodyPr>
            <a:lstStyle/>
            <a:p>
              <a:pPr/>
            </a:p>
          </p:txBody>
        </p:sp>
        <p:sp>
          <p:nvSpPr>
            <p:cNvPr id="322" name="TEST_F(CollectionTest,…"/>
            <p:cNvSpPr txBox="1"/>
            <p:nvPr/>
          </p:nvSpPr>
          <p:spPr>
            <a:xfrm>
              <a:off x="6350" y="6349"/>
              <a:ext cx="5656580" cy="14274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39" tIns="91439" rIns="91439" bIns="91439" numCol="1" anchor="t">
              <a:spAutoFit/>
            </a:bodyPr>
            <a:lstStyle/>
            <a:p>
              <a:pPr>
                <a:defRPr sz="1200">
                  <a:solidFill>
                    <a:srgbClr val="E6E6E6"/>
                  </a:solidFill>
                  <a:latin typeface="Courier New"/>
                  <a:ea typeface="Courier New"/>
                  <a:cs typeface="Courier New"/>
                  <a:sym typeface="Courier New"/>
                </a:defRPr>
              </a:pPr>
              <a:r>
                <a:t>TEST_F(CollectionTest,</a:t>
              </a:r>
            </a:p>
            <a:p>
              <a:pPr>
                <a:defRPr sz="1200">
                  <a:solidFill>
                    <a:srgbClr val="E6E6E6"/>
                  </a:solidFill>
                  <a:latin typeface="Courier New"/>
                  <a:ea typeface="Courier New"/>
                  <a:cs typeface="Courier New"/>
                  <a:sym typeface="Courier New"/>
                </a:defRPr>
              </a:pPr>
              <a:r>
                <a:t>       ResizeBeyondMaxSizeThrowsLengthError)</a:t>
              </a:r>
            </a:p>
            <a:p>
              <a:pPr>
                <a:defRPr sz="1200">
                  <a:solidFill>
                    <a:srgbClr val="E6E6E6"/>
                  </a:solidFill>
                  <a:latin typeface="Courier New"/>
                  <a:ea typeface="Courier New"/>
                  <a:cs typeface="Courier New"/>
                  <a:sym typeface="Courier New"/>
                </a:defRPr>
              </a:pPr>
              <a:r>
                <a:t>{</a:t>
              </a:r>
            </a:p>
            <a:p>
              <a:pPr>
                <a:defRPr sz="1200">
                  <a:solidFill>
                    <a:srgbClr val="E6E6E6"/>
                  </a:solidFill>
                  <a:latin typeface="Courier New"/>
                  <a:ea typeface="Courier New"/>
                  <a:cs typeface="Courier New"/>
                  <a:sym typeface="Courier New"/>
                </a:defRPr>
              </a:pPr>
              <a:r>
                <a:t>  EXPECT_THROW(collection-&gt;resize(</a:t>
              </a:r>
            </a:p>
            <a:p>
              <a:pPr>
                <a:defRPr sz="1200">
                  <a:solidFill>
                    <a:srgbClr val="E6E6E6"/>
                  </a:solidFill>
                  <a:latin typeface="Courier New"/>
                  <a:ea typeface="Courier New"/>
                  <a:cs typeface="Courier New"/>
                  <a:sym typeface="Courier New"/>
                </a:defRPr>
              </a:pPr>
              <a:r>
                <a:t>                 collection-&gt;max_size() + 1),</a:t>
              </a:r>
            </a:p>
            <a:p>
              <a:pPr>
                <a:defRPr sz="1200">
                  <a:solidFill>
                    <a:srgbClr val="E6E6E6"/>
                  </a:solidFill>
                  <a:latin typeface="Courier New"/>
                  <a:ea typeface="Courier New"/>
                  <a:cs typeface="Courier New"/>
                  <a:sym typeface="Courier New"/>
                </a:defRPr>
              </a:pPr>
              <a:r>
                <a:t>               std::length_error);</a:t>
              </a:r>
            </a:p>
            <a:p>
              <a:pPr>
                <a:defRPr sz="1200">
                  <a:solidFill>
                    <a:srgbClr val="E6E6E6"/>
                  </a:solidFill>
                  <a:latin typeface="Courier New"/>
                  <a:ea typeface="Courier New"/>
                  <a:cs typeface="Courier New"/>
                  <a:sym typeface="Courier New"/>
                </a:defRPr>
              </a:pPr>
              <a:r>
                <a:t>}</a:t>
              </a:r>
            </a:p>
          </p:txBody>
        </p:sp>
      </p:grpSp>
      <p:pic>
        <p:nvPicPr>
          <p:cNvPr id="324" name="Picture 2039" descr="Picture 2039"/>
          <p:cNvPicPr>
            <a:picLocks noChangeAspect="1"/>
          </p:cNvPicPr>
          <p:nvPr/>
        </p:nvPicPr>
        <p:blipFill>
          <a:blip r:embed="rId3">
            <a:extLst/>
          </a:blip>
          <a:stretch>
            <a:fillRect/>
          </a:stretch>
        </p:blipFill>
        <p:spPr>
          <a:xfrm>
            <a:off x="685800" y="4617720"/>
            <a:ext cx="5669280" cy="716121"/>
          </a:xfrm>
          <a:prstGeom prst="rect">
            <a:avLst/>
          </a:prstGeom>
          <a:ln w="12700">
            <a:solidFill>
              <a:srgbClr val="4A4A4A"/>
            </a:solidFill>
          </a:ln>
        </p:spPr>
      </p:pic>
      <p:grpSp>
        <p:nvGrpSpPr>
          <p:cNvPr id="327" name="Test type 2040"/>
          <p:cNvGrpSpPr/>
          <p:nvPr/>
        </p:nvGrpSpPr>
        <p:grpSpPr>
          <a:xfrm>
            <a:off x="6629400" y="2148839"/>
            <a:ext cx="1828800" cy="384049"/>
            <a:chOff x="0" y="0"/>
            <a:chExt cx="1828800" cy="384047"/>
          </a:xfrm>
        </p:grpSpPr>
        <p:sp>
          <p:nvSpPr>
            <p:cNvPr id="325" name="Rounded Rectangle"/>
            <p:cNvSpPr/>
            <p:nvPr/>
          </p:nvSpPr>
          <p:spPr>
            <a:xfrm>
              <a:off x="0" y="0"/>
              <a:ext cx="1828800" cy="384048"/>
            </a:xfrm>
            <a:prstGeom prst="roundRect">
              <a:avLst>
                <a:gd name="adj" fmla="val 6000"/>
              </a:avLst>
            </a:prstGeom>
            <a:solidFill>
              <a:srgbClr val="8B2E2A"/>
            </a:solidFill>
            <a:ln w="12700" cap="flat">
              <a:noFill/>
              <a:miter lim="400000"/>
            </a:ln>
            <a:effectLst/>
          </p:spPr>
          <p:txBody>
            <a:bodyPr wrap="square" lIns="45719" tIns="45719" rIns="45719" bIns="45719" numCol="1" anchor="ctr">
              <a:noAutofit/>
            </a:bodyPr>
            <a:lstStyle/>
            <a:p>
              <a:pPr algn="ctr"/>
            </a:p>
          </p:txBody>
        </p:sp>
        <p:sp>
          <p:nvSpPr>
            <p:cNvPr id="326" name="Negative test"/>
            <p:cNvSpPr txBox="1"/>
            <p:nvPr/>
          </p:nvSpPr>
          <p:spPr>
            <a:xfrm>
              <a:off x="6749" y="53754"/>
              <a:ext cx="1815302" cy="276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300">
                  <a:solidFill>
                    <a:srgbClr val="FFFFFF"/>
                  </a:solidFill>
                </a:defRPr>
              </a:lvl1pPr>
            </a:lstStyle>
            <a:p>
              <a:pPr/>
              <a:r>
                <a:t>Negative test</a:t>
              </a:r>
            </a:p>
          </p:txBody>
        </p:sp>
      </p:grpSp>
      <p:sp>
        <p:nvSpPr>
          <p:cNvPr id="328" name="Test explanation 2041"/>
          <p:cNvSpPr txBox="1"/>
          <p:nvPr/>
        </p:nvSpPr>
        <p:spPr>
          <a:xfrm>
            <a:off x="6629400" y="2697479"/>
            <a:ext cx="4343400" cy="20189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spcBef>
                <a:spcPts val="400"/>
              </a:spcBef>
              <a:defRPr b="1" sz="1500">
                <a:solidFill>
                  <a:srgbClr val="8DC63F"/>
                </a:solidFill>
              </a:defRPr>
            </a:pPr>
            <a:r>
              <a:t>What it proves</a:t>
            </a:r>
          </a:p>
          <a:p>
            <a:pPr>
              <a:spcBef>
                <a:spcPts val="900"/>
              </a:spcBef>
              <a:defRPr sz="1300">
                <a:solidFill>
                  <a:srgbClr val="FFFFFF"/>
                </a:solidFill>
              </a:defRPr>
            </a:pPr>
            <a:r>
              <a:t>Proves an impossible size request fails safely instead of corrupting memory</a:t>
            </a:r>
          </a:p>
          <a:p>
            <a:pPr>
              <a:spcBef>
                <a:spcPts val="400"/>
              </a:spcBef>
              <a:defRPr b="1" sz="1500">
                <a:solidFill>
                  <a:srgbClr val="8DC63F"/>
                </a:solidFill>
              </a:defRPr>
            </a:pPr>
            <a:r>
              <a:t>Taking it a step further</a:t>
            </a:r>
          </a:p>
          <a:p>
            <a:pPr marL="285750" indent="-285750">
              <a:spcBef>
                <a:spcPts val="400"/>
              </a:spcBef>
              <a:buClr>
                <a:srgbClr val="8DC63F"/>
              </a:buClr>
              <a:buSzPct val="100000"/>
              <a:buFont typeface="Arial"/>
              <a:buChar char="•"/>
              <a:defRPr sz="1300">
                <a:solidFill>
                  <a:srgbClr val="FFFFFF"/>
                </a:solidFill>
              </a:defRPr>
            </a:pPr>
            <a:r>
              <a:t>Check the collection is unchanged after the failed resize</a:t>
            </a:r>
            <a:br/>
          </a:p>
          <a:p>
            <a:pPr marL="285750" indent="-285750">
              <a:spcBef>
                <a:spcPts val="400"/>
              </a:spcBef>
              <a:buClr>
                <a:srgbClr val="8DC63F"/>
              </a:buClr>
              <a:buSzPct val="100000"/>
              <a:buFont typeface="Arial"/>
              <a:buChar char="•"/>
              <a:defRPr sz="1300">
                <a:solidFill>
                  <a:srgbClr val="FFFFFF"/>
                </a:solidFill>
              </a:defRPr>
            </a:pPr>
            <a:r>
              <a:t>Add the same kind of negative test for reserve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0" name="Google Shape;202;p9"/>
          <p:cNvSpPr txBox="1"/>
          <p:nvPr>
            <p:ph type="title"/>
          </p:nvPr>
        </p:nvSpPr>
        <p:spPr>
          <a:xfrm>
            <a:off x="2895600" y="764373"/>
            <a:ext cx="8610600" cy="1293028"/>
          </a:xfrm>
          <a:prstGeom prst="rect">
            <a:avLst/>
          </a:prstGeom>
        </p:spPr>
        <p:txBody>
          <a:bodyPr/>
          <a:lstStyle/>
          <a:p>
            <a:pPr/>
            <a:r>
              <a:t>AUTOMATION SUMMARY</a:t>
            </a:r>
          </a:p>
        </p:txBody>
      </p:sp>
      <p:pic>
        <p:nvPicPr>
          <p:cNvPr id="331" name="Google Shape;203;p9" descr="Google Shape;203;p9"/>
          <p:cNvPicPr>
            <a:picLocks noChangeAspect="1"/>
          </p:cNvPicPr>
          <p:nvPr/>
        </p:nvPicPr>
        <p:blipFill>
          <a:blip r:embed="rId2">
            <a:extLst/>
          </a:blip>
          <a:stretch>
            <a:fillRect/>
          </a:stretch>
        </p:blipFill>
        <p:spPr>
          <a:xfrm>
            <a:off x="4160520" y="2240279"/>
            <a:ext cx="6766560" cy="3422260"/>
          </a:xfrm>
          <a:prstGeom prst="rect">
            <a:avLst/>
          </a:prstGeom>
          <a:ln w="12700">
            <a:miter lim="400000"/>
          </a:ln>
        </p:spPr>
      </p:pic>
      <p:pic>
        <p:nvPicPr>
          <p:cNvPr id="332" name="Google Shape;204;p9" descr="Google Shape;204;p9"/>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333" name="Automation stages 2042"/>
          <p:cNvSpPr txBox="1"/>
          <p:nvPr/>
        </p:nvSpPr>
        <p:spPr>
          <a:xfrm>
            <a:off x="685799" y="2194560"/>
            <a:ext cx="3291842" cy="3200079"/>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spcBef>
                <a:spcPts val="400"/>
              </a:spcBef>
              <a:defRPr b="1" sz="1500">
                <a:solidFill>
                  <a:srgbClr val="8DC63F"/>
                </a:solidFill>
              </a:defRPr>
            </a:pPr>
            <a:r>
              <a:t>Where security runs</a:t>
            </a:r>
            <a:br/>
          </a:p>
          <a:p>
            <a:pPr marL="285750" indent="-285750">
              <a:spcBef>
                <a:spcPts val="500"/>
              </a:spcBef>
              <a:buClr>
                <a:srgbClr val="8DC63F"/>
              </a:buClr>
              <a:buSzPct val="100000"/>
              <a:buFont typeface="Arial"/>
              <a:buChar char="•"/>
              <a:defRPr b="1" sz="1300">
                <a:solidFill>
                  <a:srgbClr val="8DC63F"/>
                </a:solidFill>
              </a:defRPr>
            </a:pPr>
            <a:r>
              <a:t>Design: </a:t>
            </a:r>
            <a:r>
              <a:rPr b="0">
                <a:solidFill>
                  <a:srgbClr val="FFFFFF"/>
                </a:solidFill>
              </a:rPr>
              <a:t>IDE plug-ins</a:t>
            </a:r>
            <a:br>
              <a:rPr b="0">
                <a:solidFill>
                  <a:srgbClr val="FFFFFF"/>
                </a:solidFill>
              </a:rPr>
            </a:br>
            <a:endParaRPr b="0">
              <a:solidFill>
                <a:srgbClr val="FFFFFF"/>
              </a:solidFill>
            </a:endParaRPr>
          </a:p>
          <a:p>
            <a:pPr marL="285750" indent="-285750">
              <a:spcBef>
                <a:spcPts val="500"/>
              </a:spcBef>
              <a:buClr>
                <a:srgbClr val="8DC63F"/>
              </a:buClr>
              <a:buSzPct val="100000"/>
              <a:buFont typeface="Arial"/>
              <a:buChar char="•"/>
              <a:defRPr b="1" sz="1300">
                <a:solidFill>
                  <a:srgbClr val="8DC63F"/>
                </a:solidFill>
              </a:defRPr>
            </a:pPr>
            <a:r>
              <a:t>Build: </a:t>
            </a:r>
            <a:r>
              <a:rPr b="0">
                <a:solidFill>
                  <a:srgbClr val="FFFFFF"/>
                </a:solidFill>
              </a:rPr>
              <a:t>compiler warnings treated as errors</a:t>
            </a:r>
            <a:br>
              <a:rPr b="0">
                <a:solidFill>
                  <a:srgbClr val="FFFFFF"/>
                </a:solidFill>
              </a:rPr>
            </a:br>
            <a:endParaRPr b="0">
              <a:solidFill>
                <a:srgbClr val="FFFFFF"/>
              </a:solidFill>
            </a:endParaRPr>
          </a:p>
          <a:p>
            <a:pPr marL="285750" indent="-285750">
              <a:spcBef>
                <a:spcPts val="500"/>
              </a:spcBef>
              <a:buClr>
                <a:srgbClr val="8DC63F"/>
              </a:buClr>
              <a:buSzPct val="100000"/>
              <a:buFont typeface="Arial"/>
              <a:buChar char="•"/>
              <a:defRPr b="1" sz="1300">
                <a:solidFill>
                  <a:srgbClr val="8DC63F"/>
                </a:solidFill>
              </a:defRPr>
            </a:pPr>
            <a:r>
              <a:t>Verify and test: </a:t>
            </a:r>
            <a:r>
              <a:rPr b="0">
                <a:solidFill>
                  <a:srgbClr val="FFFFFF"/>
                </a:solidFill>
              </a:rPr>
              <a:t>static analysis, sanitizers, unit tests</a:t>
            </a:r>
            <a:br>
              <a:rPr b="0">
                <a:solidFill>
                  <a:srgbClr val="FFFFFF"/>
                </a:solidFill>
              </a:rPr>
            </a:br>
            <a:endParaRPr b="0">
              <a:solidFill>
                <a:srgbClr val="FFFFFF"/>
              </a:solidFill>
            </a:endParaRPr>
          </a:p>
          <a:p>
            <a:pPr marL="285750" indent="-285750">
              <a:spcBef>
                <a:spcPts val="500"/>
              </a:spcBef>
              <a:buClr>
                <a:srgbClr val="8DC63F"/>
              </a:buClr>
              <a:buSzPct val="100000"/>
              <a:buFont typeface="Arial"/>
              <a:buChar char="•"/>
              <a:defRPr b="1" sz="1300">
                <a:solidFill>
                  <a:srgbClr val="8DC63F"/>
                </a:solidFill>
              </a:defRPr>
            </a:pPr>
            <a:r>
              <a:t>Transition: </a:t>
            </a:r>
            <a:r>
              <a:rPr b="0">
                <a:solidFill>
                  <a:srgbClr val="FFFFFF"/>
                </a:solidFill>
              </a:rPr>
              <a:t>signed builds, pen testing</a:t>
            </a:r>
            <a:br>
              <a:rPr b="0">
                <a:solidFill>
                  <a:srgbClr val="FFFFFF"/>
                </a:solidFill>
              </a:rPr>
            </a:br>
            <a:endParaRPr b="0">
              <a:solidFill>
                <a:srgbClr val="FFFFFF"/>
              </a:solidFill>
            </a:endParaRPr>
          </a:p>
          <a:p>
            <a:pPr marL="285750" indent="-285750">
              <a:buClr>
                <a:srgbClr val="8DC63F"/>
              </a:buClr>
              <a:buSzPct val="100000"/>
              <a:buFont typeface="Arial"/>
              <a:buChar char="•"/>
              <a:defRPr b="1" sz="1300">
                <a:solidFill>
                  <a:srgbClr val="8DC63F"/>
                </a:solidFill>
              </a:defRPr>
            </a:pPr>
            <a:r>
              <a:t>Monitor and respond: </a:t>
            </a:r>
            <a:r>
              <a:rPr b="0">
                <a:solidFill>
                  <a:srgbClr val="FFFFFF"/>
                </a:solidFill>
              </a:rPr>
              <a:t>SIEM, intrusion detection, WAF</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5" name="Google Shape;209;p10"/>
          <p:cNvSpPr txBox="1"/>
          <p:nvPr>
            <p:ph type="title"/>
          </p:nvPr>
        </p:nvSpPr>
        <p:spPr>
          <a:xfrm>
            <a:off x="2895600" y="764373"/>
            <a:ext cx="8610600" cy="1293028"/>
          </a:xfrm>
          <a:prstGeom prst="rect">
            <a:avLst/>
          </a:prstGeom>
        </p:spPr>
        <p:txBody>
          <a:bodyPr/>
          <a:lstStyle/>
          <a:p>
            <a:pPr/>
            <a:r>
              <a:t>TOOLS</a:t>
            </a:r>
          </a:p>
        </p:txBody>
      </p:sp>
      <p:pic>
        <p:nvPicPr>
          <p:cNvPr id="336" name="Google Shape;211;p10" descr="Google Shape;211;p10"/>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sp>
        <p:nvSpPr>
          <p:cNvPr id="337" name="Pipeline intro 2043"/>
          <p:cNvSpPr txBox="1"/>
          <p:nvPr/>
        </p:nvSpPr>
        <p:spPr>
          <a:xfrm>
            <a:off x="685799" y="2011679"/>
            <a:ext cx="10241282" cy="583465"/>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defRPr>
                <a:solidFill>
                  <a:srgbClr val="FFFFFF"/>
                </a:solidFill>
              </a:defRPr>
            </a:lvl1pPr>
          </a:lstStyle>
          <a:p>
            <a:pPr/>
            <a:r>
              <a:t>Every stage of the DevSecOps loop gets its own automated check and access to the pipeline runs through Active Directory and LDAP</a:t>
            </a:r>
          </a:p>
        </p:txBody>
      </p:sp>
      <p:graphicFrame>
        <p:nvGraphicFramePr>
          <p:cNvPr id="338" name="Pipeline tools table 2044"/>
          <p:cNvGraphicFramePr/>
          <p:nvPr/>
        </p:nvGraphicFramePr>
        <p:xfrm>
          <a:off x="685800" y="2697479"/>
          <a:ext cx="10241281" cy="2816353"/>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468880"/>
                <a:gridCol w="4754880"/>
                <a:gridCol w="3017520"/>
              </a:tblGrid>
              <a:tr h="402336">
                <a:tc>
                  <a:txBody>
                    <a:bodyPr/>
                    <a:lstStyle/>
                    <a:p>
                      <a:pPr algn="l">
                        <a:defRPr sz="1800"/>
                      </a:pPr>
                      <a:r>
                        <a:rPr b="1" sz="1200">
                          <a:solidFill>
                            <a:srgbClr val="FFFFFF"/>
                          </a:solidFill>
                          <a:sym typeface="Arial"/>
                        </a:rPr>
                        <a:t>Stage</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3E6B23"/>
                    </a:solidFill>
                  </a:tcPr>
                </a:tc>
                <a:tc>
                  <a:txBody>
                    <a:bodyPr/>
                    <a:lstStyle/>
                    <a:p>
                      <a:pPr algn="l">
                        <a:defRPr sz="1800"/>
                      </a:pPr>
                      <a:r>
                        <a:rPr b="1" sz="1200">
                          <a:solidFill>
                            <a:srgbClr val="FFFFFF"/>
                          </a:solidFill>
                          <a:sym typeface="Arial"/>
                        </a:rPr>
                        <a:t>Tools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3E6B23"/>
                    </a:solidFill>
                  </a:tcPr>
                </a:tc>
                <a:tc>
                  <a:txBody>
                    <a:bodyPr/>
                    <a:lstStyle/>
                    <a:p>
                      <a:pPr algn="l">
                        <a:defRPr sz="1800"/>
                      </a:pPr>
                      <a:r>
                        <a:rPr b="1" sz="1200">
                          <a:solidFill>
                            <a:srgbClr val="FFFFFF"/>
                          </a:solidFill>
                          <a:sym typeface="Arial"/>
                        </a:rPr>
                        <a:t>Standards it enforces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3E6B23"/>
                    </a:solidFill>
                  </a:tcPr>
                </a:tc>
              </a:tr>
              <a:tr h="402336">
                <a:tc>
                  <a:txBody>
                    <a:bodyPr/>
                    <a:lstStyle/>
                    <a:p>
                      <a:pPr algn="l">
                        <a:defRPr sz="1800"/>
                      </a:pPr>
                      <a:r>
                        <a:rPr b="1" sz="1200">
                          <a:solidFill>
                            <a:srgbClr val="FFFFFF"/>
                          </a:solidFill>
                          <a:sym typeface="Arial"/>
                        </a:rPr>
                        <a:t>Assess and plan</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Risk levels from this policy, threat modeling</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Level 5 standards get fixed first</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402336">
                <a:tc>
                  <a:txBody>
                    <a:bodyPr/>
                    <a:lstStyle/>
                    <a:p>
                      <a:pPr algn="l">
                        <a:defRPr sz="1800"/>
                      </a:pPr>
                      <a:r>
                        <a:rPr b="1" sz="1200">
                          <a:solidFill>
                            <a:srgbClr val="FFFFFF"/>
                          </a:solidFill>
                          <a:sym typeface="Arial"/>
                        </a:rPr>
                        <a:t>Design</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SonarLint and Clang-Tidy IDE plug-ins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STD-001, STD-006, STD-007</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r h="402336">
                <a:tc>
                  <a:txBody>
                    <a:bodyPr/>
                    <a:lstStyle/>
                    <a:p>
                      <a:pPr algn="l">
                        <a:defRPr sz="1800"/>
                      </a:pPr>
                      <a:r>
                        <a:rPr b="1" sz="1200">
                          <a:solidFill>
                            <a:srgbClr val="FFFFFF"/>
                          </a:solidFill>
                          <a:sym typeface="Arial"/>
                        </a:rPr>
                        <a:t>Build (compiler)</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Clang with -Wall, -Wextra, -Wconversion as errors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STD-001, STD-002, STD-006</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402336">
                <a:tc>
                  <a:txBody>
                    <a:bodyPr/>
                    <a:lstStyle/>
                    <a:p>
                      <a:pPr algn="l">
                        <a:defRPr sz="1800"/>
                      </a:pPr>
                      <a:r>
                        <a:rPr b="1" sz="1200">
                          <a:solidFill>
                            <a:srgbClr val="FFFFFF"/>
                          </a:solidFill>
                          <a:sym typeface="Arial"/>
                        </a:rPr>
                        <a:t>Verify and test</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Cppcheck, Clang Static Analyzer, SonarQube, Google Test with sanitizers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STD-003, STD-005, STD-007 to STD-010</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r h="402336">
                <a:tc>
                  <a:txBody>
                    <a:bodyPr/>
                    <a:lstStyle/>
                    <a:p>
                      <a:pPr algn="l">
                        <a:defRPr sz="1800"/>
                      </a:pPr>
                      <a:r>
                        <a:rPr b="1" sz="1200">
                          <a:solidFill>
                            <a:srgbClr val="FFFFFF"/>
                          </a:solidFill>
                          <a:sym typeface="Arial"/>
                        </a:rPr>
                        <a:t>Transition and health check</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Only signed builds deploy, pen test before major releases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c>
                  <a:txBody>
                    <a:bodyPr/>
                    <a:lstStyle/>
                    <a:p>
                      <a:pPr algn="l">
                        <a:defRPr sz="1800"/>
                      </a:pPr>
                      <a:r>
                        <a:rPr sz="1200">
                          <a:solidFill>
                            <a:srgbClr val="FFFFFF"/>
                          </a:solidFill>
                          <a:sym typeface="Arial"/>
                        </a:rPr>
                        <a:t>All standards</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1C1C1C"/>
                    </a:solidFill>
                  </a:tcPr>
                </a:tc>
              </a:tr>
              <a:tr h="402336">
                <a:tc>
                  <a:txBody>
                    <a:bodyPr/>
                    <a:lstStyle/>
                    <a:p>
                      <a:pPr algn="l">
                        <a:defRPr sz="1800"/>
                      </a:pPr>
                      <a:r>
                        <a:rPr b="1" sz="1200">
                          <a:solidFill>
                            <a:srgbClr val="FFFFFF"/>
                          </a:solidFill>
                          <a:sym typeface="Arial"/>
                        </a:rPr>
                        <a:t>Monitor, detect and respond</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SIEM, intrusion detection, WAF, rollback</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c>
                  <a:txBody>
                    <a:bodyPr/>
                    <a:lstStyle/>
                    <a:p>
                      <a:pPr algn="l">
                        <a:defRPr sz="1800"/>
                      </a:pPr>
                      <a:r>
                        <a:rPr sz="1200">
                          <a:solidFill>
                            <a:srgbClr val="FFFFFF"/>
                          </a:solidFill>
                          <a:sym typeface="Arial"/>
                        </a:rPr>
                        <a:t>STD-004 at runtime</a:t>
                      </a:r>
                    </a:p>
                  </a:txBody>
                  <a:tcPr marL="45720" marR="45720" marT="45720" marB="45720" anchor="ctr" anchorCtr="0" horzOverflow="overflow">
                    <a:lnL>
                      <a:solidFill>
                        <a:srgbClr val="4A4A4A"/>
                      </a:solidFill>
                    </a:lnL>
                    <a:lnR>
                      <a:solidFill>
                        <a:srgbClr val="4A4A4A"/>
                      </a:solidFill>
                    </a:lnR>
                    <a:lnT>
                      <a:solidFill>
                        <a:srgbClr val="4A4A4A"/>
                      </a:solidFill>
                    </a:lnT>
                    <a:lnB>
                      <a:solidFill>
                        <a:srgbClr val="4A4A4A"/>
                      </a:solidFill>
                    </a:lnB>
                    <a:solidFill>
                      <a:srgbClr val="262626"/>
                    </a:solidFill>
                  </a:tcPr>
                </a:tc>
              </a:tr>
            </a:tbl>
          </a:graphicData>
        </a:graphic>
      </p:graphicFrame>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0" name="Google Shape;216;p11"/>
          <p:cNvSpPr txBox="1"/>
          <p:nvPr>
            <p:ph type="title"/>
          </p:nvPr>
        </p:nvSpPr>
        <p:spPr>
          <a:xfrm>
            <a:off x="2895600" y="764373"/>
            <a:ext cx="8610600" cy="1293028"/>
          </a:xfrm>
          <a:prstGeom prst="rect">
            <a:avLst/>
          </a:prstGeom>
        </p:spPr>
        <p:txBody>
          <a:bodyPr/>
          <a:lstStyle/>
          <a:p>
            <a:pPr/>
            <a:r>
              <a:t>RISKS AND BENEFITS</a:t>
            </a:r>
          </a:p>
        </p:txBody>
      </p:sp>
      <p:pic>
        <p:nvPicPr>
          <p:cNvPr id="341" name="Google Shape;218;p11" descr="Google Shape;218;p11"/>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sp>
        <p:nvSpPr>
          <p:cNvPr id="342" name="Problem and solution 2045"/>
          <p:cNvSpPr txBox="1"/>
          <p:nvPr/>
        </p:nvSpPr>
        <p:spPr>
          <a:xfrm>
            <a:off x="685799" y="1882782"/>
            <a:ext cx="10241282" cy="786665"/>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defRPr b="1">
                <a:solidFill>
                  <a:srgbClr val="8DC63F"/>
                </a:solidFill>
              </a:defRPr>
            </a:pPr>
            <a:r>
              <a:t>Problem: </a:t>
            </a:r>
            <a:r>
              <a:rPr b="0">
                <a:solidFill>
                  <a:srgbClr val="FFFFFF"/>
                </a:solidFill>
              </a:rPr>
              <a:t>our data was unencrypted and security habits were never standardized.  </a:t>
            </a:r>
            <a:br>
              <a:rPr b="0">
                <a:solidFill>
                  <a:srgbClr val="FFFFFF"/>
                </a:solidFill>
              </a:rPr>
            </a:br>
            <a:br>
              <a:rPr b="0">
                <a:solidFill>
                  <a:srgbClr val="FFFFFF"/>
                </a:solidFill>
              </a:rPr>
            </a:br>
            <a:r>
              <a:t>Solution: </a:t>
            </a:r>
            <a:r>
              <a:rPr b="0">
                <a:solidFill>
                  <a:srgbClr val="FFFFFF"/>
                </a:solidFill>
              </a:rPr>
              <a:t>adopt this policy and automate it in the pipeline.</a:t>
            </a:r>
          </a:p>
        </p:txBody>
      </p:sp>
      <p:grpSp>
        <p:nvGrpSpPr>
          <p:cNvPr id="345" name="Act now 2046"/>
          <p:cNvGrpSpPr/>
          <p:nvPr/>
        </p:nvGrpSpPr>
        <p:grpSpPr>
          <a:xfrm>
            <a:off x="685800" y="2800324"/>
            <a:ext cx="4983480" cy="2606041"/>
            <a:chOff x="0" y="0"/>
            <a:chExt cx="4983479" cy="2606039"/>
          </a:xfrm>
        </p:grpSpPr>
        <p:sp>
          <p:nvSpPr>
            <p:cNvPr id="343" name="Rounded Rectangle"/>
            <p:cNvSpPr/>
            <p:nvPr/>
          </p:nvSpPr>
          <p:spPr>
            <a:xfrm>
              <a:off x="0" y="0"/>
              <a:ext cx="4983480" cy="2606040"/>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p>
          </p:txBody>
        </p:sp>
        <p:sp>
          <p:nvSpPr>
            <p:cNvPr id="344" name="If we act now…"/>
            <p:cNvSpPr txBox="1"/>
            <p:nvPr/>
          </p:nvSpPr>
          <p:spPr>
            <a:xfrm>
              <a:off x="45797" y="45796"/>
              <a:ext cx="4891886" cy="13753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8871" tIns="118871" rIns="118871" bIns="118871" numCol="1" anchor="t">
              <a:spAutoFit/>
            </a:bodyPr>
            <a:lstStyle/>
            <a:p>
              <a:pPr>
                <a:spcBef>
                  <a:spcPts val="400"/>
                </a:spcBef>
                <a:defRPr b="1" sz="1600">
                  <a:solidFill>
                    <a:srgbClr val="8DC63F"/>
                  </a:solidFill>
                </a:defRPr>
              </a:pPr>
              <a:r>
                <a:t>If we act now</a:t>
              </a:r>
            </a:p>
            <a:p>
              <a:pPr marL="285750" indent="-285750">
                <a:spcBef>
                  <a:spcPts val="400"/>
                </a:spcBef>
                <a:buClr>
                  <a:srgbClr val="8DC63F"/>
                </a:buClr>
                <a:buSzPct val="100000"/>
                <a:buFont typeface="Arial"/>
                <a:buChar char="•"/>
                <a:defRPr b="1" sz="1300">
                  <a:solidFill>
                    <a:srgbClr val="8DC63F"/>
                  </a:solidFill>
                </a:defRPr>
              </a:pPr>
              <a:r>
                <a:t>Benefit: </a:t>
              </a:r>
              <a:r>
                <a:rPr b="0">
                  <a:solidFill>
                    <a:srgbClr val="FFFFFF"/>
                  </a:solidFill>
                </a:rPr>
                <a:t>bugs get caught when they're cheapest to fix</a:t>
              </a:r>
              <a:endParaRPr b="0">
                <a:solidFill>
                  <a:srgbClr val="FFFFFF"/>
                </a:solidFill>
              </a:endParaRPr>
            </a:p>
            <a:p>
              <a:pPr marL="285750" indent="-285750">
                <a:spcBef>
                  <a:spcPts val="400"/>
                </a:spcBef>
                <a:buClr>
                  <a:srgbClr val="8DC63F"/>
                </a:buClr>
                <a:buSzPct val="100000"/>
                <a:buFont typeface="Arial"/>
                <a:buChar char="•"/>
                <a:defRPr b="1" sz="1300">
                  <a:solidFill>
                    <a:srgbClr val="8DC63F"/>
                  </a:solidFill>
                </a:defRPr>
              </a:pPr>
              <a:r>
                <a:t>Benefit: </a:t>
              </a:r>
              <a:r>
                <a:rPr b="0">
                  <a:solidFill>
                    <a:srgbClr val="FFFFFF"/>
                  </a:solidFill>
                </a:rPr>
                <a:t>every build proves compliance for the audit</a:t>
              </a:r>
              <a:endParaRPr b="0">
                <a:solidFill>
                  <a:srgbClr val="FFFFFF"/>
                </a:solidFill>
              </a:endParaRPr>
            </a:p>
            <a:p>
              <a:pPr marL="285750" indent="-285750">
                <a:buClr>
                  <a:srgbClr val="8DC63F"/>
                </a:buClr>
                <a:buSzPct val="100000"/>
                <a:buFont typeface="Arial"/>
                <a:buChar char="•"/>
                <a:defRPr b="1" sz="1300">
                  <a:solidFill>
                    <a:srgbClr val="8DC63F"/>
                  </a:solidFill>
                </a:defRPr>
              </a:pPr>
              <a:r>
                <a:t>Risk: </a:t>
              </a:r>
              <a:r>
                <a:rPr b="0">
                  <a:solidFill>
                    <a:srgbClr val="FFFFFF"/>
                  </a:solidFill>
                </a:rPr>
                <a:t>up front time, a learning curve, and false positives that slow builds</a:t>
              </a:r>
            </a:p>
          </p:txBody>
        </p:sp>
      </p:grpSp>
      <p:grpSp>
        <p:nvGrpSpPr>
          <p:cNvPr id="348" name="If we wait 2047"/>
          <p:cNvGrpSpPr/>
          <p:nvPr/>
        </p:nvGrpSpPr>
        <p:grpSpPr>
          <a:xfrm>
            <a:off x="5943600" y="2800324"/>
            <a:ext cx="4983480" cy="2606041"/>
            <a:chOff x="0" y="0"/>
            <a:chExt cx="4983479" cy="2606039"/>
          </a:xfrm>
        </p:grpSpPr>
        <p:sp>
          <p:nvSpPr>
            <p:cNvPr id="346" name="Rounded Rectangle"/>
            <p:cNvSpPr/>
            <p:nvPr/>
          </p:nvSpPr>
          <p:spPr>
            <a:xfrm>
              <a:off x="0" y="0"/>
              <a:ext cx="4983480" cy="2606040"/>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p>
          </p:txBody>
        </p:sp>
        <p:sp>
          <p:nvSpPr>
            <p:cNvPr id="347" name="If we wait…"/>
            <p:cNvSpPr txBox="1"/>
            <p:nvPr/>
          </p:nvSpPr>
          <p:spPr>
            <a:xfrm>
              <a:off x="45797" y="45796"/>
              <a:ext cx="4891886" cy="15658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8871" tIns="118871" rIns="118871" bIns="118871" numCol="1" anchor="t">
              <a:spAutoFit/>
            </a:bodyPr>
            <a:lstStyle/>
            <a:p>
              <a:pPr>
                <a:spcBef>
                  <a:spcPts val="400"/>
                </a:spcBef>
                <a:defRPr b="1" sz="1600">
                  <a:solidFill>
                    <a:srgbClr val="E8735F"/>
                  </a:solidFill>
                </a:defRPr>
              </a:pPr>
              <a:r>
                <a:t>If we wait</a:t>
              </a:r>
            </a:p>
            <a:p>
              <a:pPr marL="285750" indent="-285750">
                <a:spcBef>
                  <a:spcPts val="400"/>
                </a:spcBef>
                <a:buClr>
                  <a:srgbClr val="8DC63F"/>
                </a:buClr>
                <a:buSzPct val="100000"/>
                <a:buFont typeface="Arial"/>
                <a:buChar char="•"/>
                <a:defRPr b="1" sz="1300">
                  <a:solidFill>
                    <a:srgbClr val="8DC63F"/>
                  </a:solidFill>
                </a:defRPr>
              </a:pPr>
              <a:r>
                <a:t>Risk: </a:t>
              </a:r>
              <a:r>
                <a:rPr b="0">
                  <a:solidFill>
                    <a:srgbClr val="FFFFFF"/>
                  </a:solidFill>
                </a:rPr>
                <a:t>breaches like Capital One and Equifax started with known weaknesses</a:t>
              </a:r>
              <a:endParaRPr b="0">
                <a:solidFill>
                  <a:srgbClr val="FFFFFF"/>
                </a:solidFill>
              </a:endParaRPr>
            </a:p>
            <a:p>
              <a:pPr marL="285750" indent="-285750">
                <a:spcBef>
                  <a:spcPts val="400"/>
                </a:spcBef>
                <a:buClr>
                  <a:srgbClr val="8DC63F"/>
                </a:buClr>
                <a:buSzPct val="100000"/>
                <a:buFont typeface="Arial"/>
                <a:buChar char="•"/>
                <a:defRPr b="1" sz="1300">
                  <a:solidFill>
                    <a:srgbClr val="8DC63F"/>
                  </a:solidFill>
                </a:defRPr>
              </a:pPr>
              <a:r>
                <a:t>Risk: </a:t>
              </a:r>
              <a:r>
                <a:rPr b="0">
                  <a:solidFill>
                    <a:srgbClr val="FFFFFF"/>
                  </a:solidFill>
                </a:rPr>
                <a:t>every new feature adds more code to fix later</a:t>
              </a:r>
              <a:endParaRPr b="0">
                <a:solidFill>
                  <a:srgbClr val="FFFFFF"/>
                </a:solidFill>
              </a:endParaRPr>
            </a:p>
            <a:p>
              <a:pPr marL="285750" indent="-285750">
                <a:buClr>
                  <a:srgbClr val="8DC63F"/>
                </a:buClr>
                <a:buSzPct val="100000"/>
                <a:buFont typeface="Arial"/>
                <a:buChar char="•"/>
                <a:defRPr b="1" sz="1300">
                  <a:solidFill>
                    <a:srgbClr val="8DC63F"/>
                  </a:solidFill>
                </a:defRPr>
              </a:pPr>
              <a:r>
                <a:t>Only benefit: </a:t>
              </a:r>
              <a:r>
                <a:rPr b="0">
                  <a:solidFill>
                    <a:srgbClr val="FFFFFF"/>
                  </a:solidFill>
                </a:rPr>
                <a:t>faster short term delivery, which doesn't outweigh a breach</a:t>
              </a:r>
            </a:p>
          </p:txBody>
        </p:sp>
      </p:grpSp>
      <p:sp>
        <p:nvSpPr>
          <p:cNvPr id="349" name="Gaps and steps 2048"/>
          <p:cNvSpPr txBox="1"/>
          <p:nvPr/>
        </p:nvSpPr>
        <p:spPr>
          <a:xfrm>
            <a:off x="685799" y="5543524"/>
            <a:ext cx="10241282" cy="7489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defRPr b="1" sz="1300">
                <a:solidFill>
                  <a:srgbClr val="8DC63F"/>
                </a:solidFill>
              </a:defRPr>
            </a:pPr>
            <a:r>
              <a:t>Where it's lacking: </a:t>
            </a:r>
            <a:r>
              <a:rPr b="0">
                <a:solidFill>
                  <a:srgbClr val="FFFFFF"/>
                </a:solidFill>
              </a:rPr>
              <a:t>tools miss logic bugs</a:t>
            </a:r>
            <a:br>
              <a:rPr b="0">
                <a:solidFill>
                  <a:srgbClr val="FFFFFF"/>
                </a:solidFill>
              </a:rPr>
            </a:br>
            <a:br>
              <a:rPr b="0">
                <a:solidFill>
                  <a:srgbClr val="FFFFFF"/>
                </a:solidFill>
              </a:rPr>
            </a:br>
            <a:r>
              <a:t>Steps: </a:t>
            </a:r>
            <a:r>
              <a:rPr b="0">
                <a:solidFill>
                  <a:srgbClr val="FFFFFF"/>
                </a:solidFill>
              </a:rPr>
              <a:t>fix Level 5 first, run tools in warning mode, then enforce…</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1" name="Google Shape;223;p12"/>
          <p:cNvSpPr txBox="1"/>
          <p:nvPr>
            <p:ph type="title"/>
          </p:nvPr>
        </p:nvSpPr>
        <p:spPr>
          <a:xfrm>
            <a:off x="2895600" y="764373"/>
            <a:ext cx="8610600" cy="1293028"/>
          </a:xfrm>
          <a:prstGeom prst="rect">
            <a:avLst/>
          </a:prstGeom>
        </p:spPr>
        <p:txBody>
          <a:bodyPr/>
          <a:lstStyle/>
          <a:p>
            <a:pPr/>
            <a:r>
              <a:t>RECOMMENDATIONS</a:t>
            </a:r>
          </a:p>
        </p:txBody>
      </p:sp>
      <p:pic>
        <p:nvPicPr>
          <p:cNvPr id="352" name="Google Shape;225;p12" descr="Google Shape;225;p12"/>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grpSp>
        <p:nvGrpSpPr>
          <p:cNvPr id="355" name="Gap 1 2049"/>
          <p:cNvGrpSpPr/>
          <p:nvPr/>
        </p:nvGrpSpPr>
        <p:grpSpPr>
          <a:xfrm>
            <a:off x="685800" y="2148839"/>
            <a:ext cx="3246121" cy="2651761"/>
            <a:chOff x="0" y="0"/>
            <a:chExt cx="3246120" cy="2651760"/>
          </a:xfrm>
        </p:grpSpPr>
        <p:sp>
          <p:nvSpPr>
            <p:cNvPr id="353" name="Rounded Rectangle"/>
            <p:cNvSpPr/>
            <p:nvPr/>
          </p:nvSpPr>
          <p:spPr>
            <a:xfrm>
              <a:off x="0" y="0"/>
              <a:ext cx="3246121" cy="2651761"/>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p>
          </p:txBody>
        </p:sp>
        <p:sp>
          <p:nvSpPr>
            <p:cNvPr id="354" name="Cloud and server configuration…"/>
            <p:cNvSpPr txBox="1"/>
            <p:nvPr/>
          </p:nvSpPr>
          <p:spPr>
            <a:xfrm>
              <a:off x="46600" y="46599"/>
              <a:ext cx="3152920" cy="2150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8871" tIns="118871" rIns="118871" bIns="118871" numCol="1" anchor="t">
              <a:spAutoFit/>
            </a:bodyPr>
            <a:lstStyle/>
            <a:p>
              <a:pPr>
                <a:spcBef>
                  <a:spcPts val="400"/>
                </a:spcBef>
                <a:defRPr b="1" sz="1600">
                  <a:solidFill>
                    <a:srgbClr val="8DC63F"/>
                  </a:solidFill>
                </a:defRPr>
              </a:pPr>
              <a:r>
                <a:t>Cloud and server configuration</a:t>
              </a:r>
            </a:p>
            <a:p>
              <a:pPr>
                <a:spcBef>
                  <a:spcPts val="900"/>
                </a:spcBef>
                <a:defRPr sz="1300">
                  <a:solidFill>
                    <a:srgbClr val="FFFFFF"/>
                  </a:solidFill>
                </a:defRPr>
              </a:pPr>
              <a:r>
                <a:t>No standard covers how servers and firewalls get configured</a:t>
              </a:r>
            </a:p>
            <a:p>
              <a:pPr>
                <a:spcBef>
                  <a:spcPts val="200"/>
                </a:spcBef>
                <a:defRPr b="1" sz="1200">
                  <a:solidFill>
                    <a:srgbClr val="E8735F"/>
                  </a:solidFill>
                </a:defRPr>
              </a:pPr>
              <a:r>
                <a:t>Real world example</a:t>
              </a:r>
            </a:p>
            <a:p>
              <a:pPr>
                <a:defRPr i="1" sz="1200">
                  <a:solidFill>
                    <a:srgbClr val="FFFFFF"/>
                  </a:solidFill>
                </a:defRPr>
              </a:pPr>
              <a:r>
                <a:t>Capital One 2019: a misconfigured web application firewall allowed an SSRF attack that exposed 106 million customers (Neto et al., 2020)</a:t>
              </a:r>
            </a:p>
          </p:txBody>
        </p:sp>
      </p:grpSp>
      <p:grpSp>
        <p:nvGrpSpPr>
          <p:cNvPr id="358" name="Gap 2 2050"/>
          <p:cNvGrpSpPr/>
          <p:nvPr/>
        </p:nvGrpSpPr>
        <p:grpSpPr>
          <a:xfrm>
            <a:off x="4160520" y="2148839"/>
            <a:ext cx="3246121" cy="2651761"/>
            <a:chOff x="0" y="0"/>
            <a:chExt cx="3246120" cy="2651760"/>
          </a:xfrm>
        </p:grpSpPr>
        <p:sp>
          <p:nvSpPr>
            <p:cNvPr id="356" name="Rounded Rectangle"/>
            <p:cNvSpPr/>
            <p:nvPr/>
          </p:nvSpPr>
          <p:spPr>
            <a:xfrm>
              <a:off x="0" y="0"/>
              <a:ext cx="3246121" cy="2651761"/>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p>
          </p:txBody>
        </p:sp>
        <p:sp>
          <p:nvSpPr>
            <p:cNvPr id="357" name="API abuse and data scraping…"/>
            <p:cNvSpPr txBox="1"/>
            <p:nvPr/>
          </p:nvSpPr>
          <p:spPr>
            <a:xfrm>
              <a:off x="46600" y="46599"/>
              <a:ext cx="3152920" cy="17440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8871" tIns="118871" rIns="118871" bIns="118871" numCol="1" anchor="t">
              <a:spAutoFit/>
            </a:bodyPr>
            <a:lstStyle/>
            <a:p>
              <a:pPr>
                <a:spcBef>
                  <a:spcPts val="400"/>
                </a:spcBef>
                <a:defRPr b="1" sz="1600">
                  <a:solidFill>
                    <a:srgbClr val="8DC63F"/>
                  </a:solidFill>
                </a:defRPr>
              </a:pPr>
              <a:r>
                <a:t>API abuse and data scraping</a:t>
              </a:r>
            </a:p>
            <a:p>
              <a:pPr>
                <a:spcBef>
                  <a:spcPts val="900"/>
                </a:spcBef>
                <a:defRPr sz="1300">
                  <a:solidFill>
                    <a:srgbClr val="FFFFFF"/>
                  </a:solidFill>
                </a:defRPr>
              </a:pPr>
              <a:r>
                <a:t>No standard limits how much data an API hands out or how fast</a:t>
              </a:r>
            </a:p>
            <a:p>
              <a:pPr>
                <a:spcBef>
                  <a:spcPts val="200"/>
                </a:spcBef>
                <a:defRPr b="1" sz="1200">
                  <a:solidFill>
                    <a:srgbClr val="E8735F"/>
                  </a:solidFill>
                </a:defRPr>
              </a:pPr>
              <a:r>
                <a:t>Real world example</a:t>
              </a:r>
            </a:p>
            <a:p>
              <a:pPr>
                <a:defRPr i="1" sz="1200">
                  <a:solidFill>
                    <a:srgbClr val="FFFFFF"/>
                  </a:solidFill>
                </a:defRPr>
              </a:pPr>
              <a:r>
                <a:t>LinkedIn 2021: scraping through APIs put data tied to about 700 million users up for sale (Leyden et al., 2025)</a:t>
              </a:r>
            </a:p>
          </p:txBody>
        </p:sp>
      </p:grpSp>
      <p:grpSp>
        <p:nvGrpSpPr>
          <p:cNvPr id="361" name="Gap 3 2051"/>
          <p:cNvGrpSpPr/>
          <p:nvPr/>
        </p:nvGrpSpPr>
        <p:grpSpPr>
          <a:xfrm>
            <a:off x="7635240" y="2148839"/>
            <a:ext cx="3246121" cy="2651761"/>
            <a:chOff x="0" y="0"/>
            <a:chExt cx="3246120" cy="2651760"/>
          </a:xfrm>
        </p:grpSpPr>
        <p:sp>
          <p:nvSpPr>
            <p:cNvPr id="359" name="Rounded Rectangle"/>
            <p:cNvSpPr/>
            <p:nvPr/>
          </p:nvSpPr>
          <p:spPr>
            <a:xfrm>
              <a:off x="0" y="0"/>
              <a:ext cx="3246121" cy="2651761"/>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p>
          </p:txBody>
        </p:sp>
        <p:sp>
          <p:nvSpPr>
            <p:cNvPr id="360" name="Third party and outdated code…"/>
            <p:cNvSpPr txBox="1"/>
            <p:nvPr/>
          </p:nvSpPr>
          <p:spPr>
            <a:xfrm>
              <a:off x="46600" y="46599"/>
              <a:ext cx="3152920" cy="19726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8871" tIns="118871" rIns="118871" bIns="118871" numCol="1" anchor="t">
              <a:spAutoFit/>
            </a:bodyPr>
            <a:lstStyle/>
            <a:p>
              <a:pPr>
                <a:spcBef>
                  <a:spcPts val="400"/>
                </a:spcBef>
                <a:defRPr b="1" sz="1600">
                  <a:solidFill>
                    <a:srgbClr val="8DC63F"/>
                  </a:solidFill>
                </a:defRPr>
              </a:pPr>
              <a:r>
                <a:t>Third party and outdated code</a:t>
              </a:r>
            </a:p>
            <a:p>
              <a:pPr>
                <a:spcBef>
                  <a:spcPts val="900"/>
                </a:spcBef>
                <a:defRPr sz="1300">
                  <a:solidFill>
                    <a:srgbClr val="FFFFFF"/>
                  </a:solidFill>
                </a:defRPr>
              </a:pPr>
              <a:r>
                <a:t>No standard for tracking and patching libraries and frameworks</a:t>
              </a:r>
            </a:p>
            <a:p>
              <a:pPr>
                <a:spcBef>
                  <a:spcPts val="200"/>
                </a:spcBef>
                <a:defRPr b="1" sz="1200">
                  <a:solidFill>
                    <a:srgbClr val="E8735F"/>
                  </a:solidFill>
                </a:defRPr>
              </a:pPr>
              <a:r>
                <a:t>Real world example</a:t>
              </a:r>
            </a:p>
            <a:p>
              <a:pPr>
                <a:defRPr i="1" sz="1200">
                  <a:solidFill>
                    <a:srgbClr val="FFFFFF"/>
                  </a:solidFill>
                </a:defRPr>
              </a:pPr>
              <a:r>
                <a:t>Equifax 2017: a website application vulnerability exposed over 145 million Americans (Norton, 2019)</a:t>
              </a:r>
            </a:p>
          </p:txBody>
        </p:sp>
      </p:gr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3" name="Google Shape;230;p13"/>
          <p:cNvSpPr txBox="1"/>
          <p:nvPr>
            <p:ph type="title"/>
          </p:nvPr>
        </p:nvSpPr>
        <p:spPr>
          <a:xfrm>
            <a:off x="2895600" y="764373"/>
            <a:ext cx="8610600" cy="1293028"/>
          </a:xfrm>
          <a:prstGeom prst="rect">
            <a:avLst/>
          </a:prstGeom>
        </p:spPr>
        <p:txBody>
          <a:bodyPr/>
          <a:lstStyle/>
          <a:p>
            <a:pPr/>
            <a:r>
              <a:t>CONCLUSIONS</a:t>
            </a:r>
          </a:p>
        </p:txBody>
      </p:sp>
      <p:pic>
        <p:nvPicPr>
          <p:cNvPr id="364" name="Google Shape;232;p13" descr="Google Shape;232;p13"/>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grpSp>
        <p:nvGrpSpPr>
          <p:cNvPr id="367" name="Secure configuration standard 2052"/>
          <p:cNvGrpSpPr/>
          <p:nvPr/>
        </p:nvGrpSpPr>
        <p:grpSpPr>
          <a:xfrm>
            <a:off x="685800" y="2148839"/>
            <a:ext cx="4937760" cy="1261873"/>
            <a:chOff x="0" y="0"/>
            <a:chExt cx="4937759" cy="1261872"/>
          </a:xfrm>
        </p:grpSpPr>
        <p:sp>
          <p:nvSpPr>
            <p:cNvPr id="365" name="Rounded Rectangle"/>
            <p:cNvSpPr/>
            <p:nvPr/>
          </p:nvSpPr>
          <p:spPr>
            <a:xfrm>
              <a:off x="0" y="0"/>
              <a:ext cx="4937760" cy="1261873"/>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p>
          </p:txBody>
        </p:sp>
        <p:sp>
          <p:nvSpPr>
            <p:cNvPr id="366" name="Secure configuration standard…"/>
            <p:cNvSpPr txBox="1"/>
            <p:nvPr/>
          </p:nvSpPr>
          <p:spPr>
            <a:xfrm>
              <a:off x="22174" y="22174"/>
              <a:ext cx="4893412" cy="10705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8871" tIns="118871" rIns="118871" bIns="118871" numCol="1" anchor="t">
              <a:spAutoFit/>
            </a:bodyPr>
            <a:lstStyle/>
            <a:p>
              <a:pPr>
                <a:spcBef>
                  <a:spcPts val="400"/>
                </a:spcBef>
                <a:defRPr b="1" sz="1500">
                  <a:solidFill>
                    <a:srgbClr val="8DC63F"/>
                  </a:solidFill>
                </a:defRPr>
              </a:pPr>
              <a:r>
                <a:t>Secure configuration standard</a:t>
              </a:r>
            </a:p>
            <a:p>
              <a:pPr>
                <a:defRPr sz="1300">
                  <a:solidFill>
                    <a:srgbClr val="FFFFFF"/>
                  </a:solidFill>
                </a:defRPr>
              </a:pPr>
              <a:r>
                <a:t>Review firewall and cloud permissions on every change, and give cloud roles least privilege so an SSRF can't reach sensitive data</a:t>
              </a:r>
            </a:p>
          </p:txBody>
        </p:sp>
      </p:grpSp>
      <p:grpSp>
        <p:nvGrpSpPr>
          <p:cNvPr id="370" name="API security standard 2053"/>
          <p:cNvGrpSpPr/>
          <p:nvPr/>
        </p:nvGrpSpPr>
        <p:grpSpPr>
          <a:xfrm>
            <a:off x="5852159" y="2148839"/>
            <a:ext cx="4937761" cy="1261873"/>
            <a:chOff x="0" y="0"/>
            <a:chExt cx="4937759" cy="1261872"/>
          </a:xfrm>
        </p:grpSpPr>
        <p:sp>
          <p:nvSpPr>
            <p:cNvPr id="368" name="Rounded Rectangle"/>
            <p:cNvSpPr/>
            <p:nvPr/>
          </p:nvSpPr>
          <p:spPr>
            <a:xfrm>
              <a:off x="0" y="0"/>
              <a:ext cx="4937760" cy="1261873"/>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p>
          </p:txBody>
        </p:sp>
        <p:sp>
          <p:nvSpPr>
            <p:cNvPr id="369" name="API security standard…"/>
            <p:cNvSpPr txBox="1"/>
            <p:nvPr/>
          </p:nvSpPr>
          <p:spPr>
            <a:xfrm>
              <a:off x="22174" y="22174"/>
              <a:ext cx="4893412" cy="8800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8871" tIns="118871" rIns="118871" bIns="118871" numCol="1" anchor="t">
              <a:spAutoFit/>
            </a:bodyPr>
            <a:lstStyle/>
            <a:p>
              <a:pPr>
                <a:spcBef>
                  <a:spcPts val="400"/>
                </a:spcBef>
                <a:defRPr b="1" sz="1500">
                  <a:solidFill>
                    <a:srgbClr val="8DC63F"/>
                  </a:solidFill>
                </a:defRPr>
              </a:pPr>
              <a:r>
                <a:t>API security standard</a:t>
              </a:r>
            </a:p>
            <a:p>
              <a:pPr>
                <a:defRPr sz="1300">
                  <a:solidFill>
                    <a:srgbClr val="FFFFFF"/>
                  </a:solidFill>
                </a:defRPr>
              </a:pPr>
              <a:r>
                <a:t>Authenticate every call, rate limit requests, and return only the data each caller really needs</a:t>
              </a:r>
            </a:p>
          </p:txBody>
        </p:sp>
      </p:grpSp>
      <p:grpSp>
        <p:nvGrpSpPr>
          <p:cNvPr id="373" name="Dependency management standard 2054"/>
          <p:cNvGrpSpPr/>
          <p:nvPr/>
        </p:nvGrpSpPr>
        <p:grpSpPr>
          <a:xfrm>
            <a:off x="685800" y="3566159"/>
            <a:ext cx="4937760" cy="1261873"/>
            <a:chOff x="0" y="0"/>
            <a:chExt cx="4937759" cy="1261872"/>
          </a:xfrm>
        </p:grpSpPr>
        <p:sp>
          <p:nvSpPr>
            <p:cNvPr id="371" name="Rounded Rectangle"/>
            <p:cNvSpPr/>
            <p:nvPr/>
          </p:nvSpPr>
          <p:spPr>
            <a:xfrm>
              <a:off x="0" y="0"/>
              <a:ext cx="4937760" cy="1261873"/>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p>
          </p:txBody>
        </p:sp>
        <p:sp>
          <p:nvSpPr>
            <p:cNvPr id="372" name="Dependency management standard…"/>
            <p:cNvSpPr txBox="1"/>
            <p:nvPr/>
          </p:nvSpPr>
          <p:spPr>
            <a:xfrm>
              <a:off x="22174" y="22174"/>
              <a:ext cx="4893412" cy="8800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8871" tIns="118871" rIns="118871" bIns="118871" numCol="1" anchor="t">
              <a:spAutoFit/>
            </a:bodyPr>
            <a:lstStyle/>
            <a:p>
              <a:pPr>
                <a:spcBef>
                  <a:spcPts val="400"/>
                </a:spcBef>
                <a:defRPr b="1" sz="1500">
                  <a:solidFill>
                    <a:srgbClr val="8DC63F"/>
                  </a:solidFill>
                </a:defRPr>
              </a:pPr>
              <a:r>
                <a:t>Dependency management standard</a:t>
              </a:r>
            </a:p>
            <a:p>
              <a:pPr>
                <a:defRPr sz="1300">
                  <a:solidFill>
                    <a:srgbClr val="FFFFFF"/>
                  </a:solidFill>
                </a:defRPr>
              </a:pPr>
              <a:r>
                <a:t>Scan third party code on every build and set patch deadlines based on severity</a:t>
              </a:r>
            </a:p>
          </p:txBody>
        </p:sp>
      </p:grpSp>
      <p:grpSp>
        <p:nvGrpSpPr>
          <p:cNvPr id="376" name="Concurrency standard 2055"/>
          <p:cNvGrpSpPr/>
          <p:nvPr/>
        </p:nvGrpSpPr>
        <p:grpSpPr>
          <a:xfrm>
            <a:off x="5852159" y="3566159"/>
            <a:ext cx="4937761" cy="1261873"/>
            <a:chOff x="0" y="0"/>
            <a:chExt cx="4937759" cy="1261872"/>
          </a:xfrm>
        </p:grpSpPr>
        <p:sp>
          <p:nvSpPr>
            <p:cNvPr id="374" name="Rounded Rectangle"/>
            <p:cNvSpPr/>
            <p:nvPr/>
          </p:nvSpPr>
          <p:spPr>
            <a:xfrm>
              <a:off x="0" y="0"/>
              <a:ext cx="4937760" cy="1261873"/>
            </a:xfrm>
            <a:prstGeom prst="roundRect">
              <a:avLst>
                <a:gd name="adj" fmla="val 6000"/>
              </a:avLst>
            </a:prstGeom>
            <a:solidFill>
              <a:srgbClr val="1C1C1C"/>
            </a:solidFill>
            <a:ln w="12700" cap="flat">
              <a:noFill/>
              <a:miter lim="400000"/>
            </a:ln>
            <a:effectLst/>
          </p:spPr>
          <p:txBody>
            <a:bodyPr wrap="square" lIns="45719" tIns="45719" rIns="45719" bIns="45719" numCol="1" anchor="t">
              <a:noAutofit/>
            </a:bodyPr>
            <a:lstStyle/>
            <a:p>
              <a:pPr/>
            </a:p>
          </p:txBody>
        </p:sp>
        <p:sp>
          <p:nvSpPr>
            <p:cNvPr id="375" name="Concurrency standard…"/>
            <p:cNvSpPr txBox="1"/>
            <p:nvPr/>
          </p:nvSpPr>
          <p:spPr>
            <a:xfrm>
              <a:off x="22174" y="22174"/>
              <a:ext cx="4893412" cy="8800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8871" tIns="118871" rIns="118871" bIns="118871" numCol="1" anchor="t">
              <a:spAutoFit/>
            </a:bodyPr>
            <a:lstStyle/>
            <a:p>
              <a:pPr>
                <a:spcBef>
                  <a:spcPts val="400"/>
                </a:spcBef>
                <a:defRPr b="1" sz="1500">
                  <a:solidFill>
                    <a:srgbClr val="8DC63F"/>
                  </a:solidFill>
                </a:defRPr>
              </a:pPr>
              <a:r>
                <a:t>Concurrency standard</a:t>
              </a:r>
            </a:p>
            <a:p>
              <a:pPr>
                <a:defRPr sz="1300">
                  <a:solidFill>
                    <a:srgbClr val="FFFFFF"/>
                  </a:solidFill>
                </a:defRPr>
              </a:pPr>
              <a:r>
                <a:t>Add SEI CERT concurrency (CON) rules as Green Pace's apps grow more multithreaded</a:t>
              </a:r>
            </a:p>
          </p:txBody>
        </p:sp>
      </p:grpSp>
      <p:sp>
        <p:nvSpPr>
          <p:cNvPr id="377" name="Closing statement 2056"/>
          <p:cNvSpPr txBox="1"/>
          <p:nvPr/>
        </p:nvSpPr>
        <p:spPr>
          <a:xfrm>
            <a:off x="685799" y="5074920"/>
            <a:ext cx="10241282" cy="380264"/>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defRPr i="1">
                <a:solidFill>
                  <a:srgbClr val="FFFFFF"/>
                </a:solidFill>
              </a:defRPr>
            </a:lvl1pPr>
          </a:lstStyle>
          <a:p>
            <a:pPr/>
            <a:r>
              <a:t>Moving forward, I'd review this policy every year and after any incident, so the standards keep up with new threats.</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9" name="Google Shape;237;p14"/>
          <p:cNvSpPr txBox="1"/>
          <p:nvPr>
            <p:ph type="title"/>
          </p:nvPr>
        </p:nvSpPr>
        <p:spPr>
          <a:xfrm>
            <a:off x="2895600" y="764373"/>
            <a:ext cx="8610600" cy="1293028"/>
          </a:xfrm>
          <a:prstGeom prst="rect">
            <a:avLst/>
          </a:prstGeom>
        </p:spPr>
        <p:txBody>
          <a:bodyPr/>
          <a:lstStyle/>
          <a:p>
            <a:pPr/>
            <a:r>
              <a:t>WORKS CITED</a:t>
            </a:r>
          </a:p>
        </p:txBody>
      </p:sp>
      <p:pic>
        <p:nvPicPr>
          <p:cNvPr id="380" name="Google Shape;239;p14" descr="Google Shape;239;p14"/>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sp>
        <p:nvSpPr>
          <p:cNvPr id="381" name="References 2057"/>
          <p:cNvSpPr txBox="1"/>
          <p:nvPr/>
        </p:nvSpPr>
        <p:spPr>
          <a:xfrm>
            <a:off x="685799" y="1882782"/>
            <a:ext cx="10241282" cy="47621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marL="457200" indent="-457200">
              <a:spcBef>
                <a:spcPts val="700"/>
              </a:spcBef>
              <a:defRPr sz="1300">
                <a:solidFill>
                  <a:srgbClr val="FFFFFF"/>
                </a:solidFill>
              </a:defRPr>
            </a:pPr>
            <a:r>
              <a:t>Google. (n.d.). </a:t>
            </a:r>
            <a:r>
              <a:rPr i="1"/>
              <a:t>GoogleTest primer</a:t>
            </a:r>
            <a:r>
              <a:t>. GitHub. </a:t>
            </a:r>
            <a:r>
              <a:rPr u="sng">
                <a:solidFill>
                  <a:srgbClr val="F0532B"/>
                </a:solidFill>
                <a:uFill>
                  <a:solidFill>
                    <a:srgbClr val="F0532B"/>
                  </a:solidFill>
                </a:uFill>
                <a:hlinkClick r:id="rId3" invalidUrl="" action="" tgtFrame="" tooltip="" history="1" highlightClick="0" endSnd="0"/>
              </a:rPr>
              <a:t>https://github.com/google/googletest/blob/main/docs/primer.md</a:t>
            </a:r>
          </a:p>
          <a:p>
            <a:pPr marL="457200" indent="-457200">
              <a:spcBef>
                <a:spcPts val="700"/>
              </a:spcBef>
              <a:defRPr sz="1300">
                <a:solidFill>
                  <a:srgbClr val="FFFFFF"/>
                </a:solidFill>
              </a:defRPr>
            </a:pPr>
          </a:p>
          <a:p>
            <a:pPr marL="457200" indent="-457200">
              <a:spcBef>
                <a:spcPts val="700"/>
              </a:spcBef>
              <a:defRPr sz="1300">
                <a:solidFill>
                  <a:srgbClr val="FFFFFF"/>
                </a:solidFill>
              </a:defRPr>
            </a:pPr>
            <a:r>
              <a:t>Leyden, J., Swinhoe, D., &amp; Hill, M. (2025, June 12). The 20 biggest data breaches of the 21st century. </a:t>
            </a:r>
            <a:r>
              <a:rPr i="1"/>
              <a:t>CSO Online</a:t>
            </a:r>
            <a:r>
              <a:t>. </a:t>
            </a:r>
            <a:r>
              <a:rPr u="sng">
                <a:solidFill>
                  <a:srgbClr val="F0532B"/>
                </a:solidFill>
                <a:uFill>
                  <a:solidFill>
                    <a:srgbClr val="F0532B"/>
                  </a:solidFill>
                </a:uFill>
                <a:hlinkClick r:id="rId4" invalidUrl="" action="" tgtFrame="" tooltip="" history="1" highlightClick="0" endSnd="0"/>
              </a:rPr>
              <a:t>https://https://www.csoonline.com/article/534628/the-biggest-data-breaches-of-the-21st-century.html</a:t>
            </a:r>
          </a:p>
          <a:p>
            <a:pPr marL="457200" indent="-457200">
              <a:spcBef>
                <a:spcPts val="700"/>
              </a:spcBef>
              <a:defRPr sz="1300">
                <a:solidFill>
                  <a:srgbClr val="FFFFFF"/>
                </a:solidFill>
              </a:defRPr>
            </a:pPr>
          </a:p>
          <a:p>
            <a:pPr marL="457200" indent="-457200">
              <a:spcBef>
                <a:spcPts val="700"/>
              </a:spcBef>
              <a:defRPr sz="1300">
                <a:solidFill>
                  <a:srgbClr val="FFFFFF"/>
                </a:solidFill>
              </a:defRPr>
            </a:pPr>
            <a:r>
              <a:t>Neto, N. N., Madnick, S., de Paula, A. M. G., &amp; Borges, N. M. (2020). </a:t>
            </a:r>
            <a:r>
              <a:rPr i="1"/>
              <a:t>A case study of the Capital One data breach</a:t>
            </a:r>
            <a:r>
              <a:t> (Working Paper CISL# 2020-07). MIT Sloan School of Management. </a:t>
            </a:r>
            <a:r>
              <a:rPr u="sng">
                <a:solidFill>
                  <a:srgbClr val="F0532B"/>
                </a:solidFill>
                <a:uFill>
                  <a:solidFill>
                    <a:srgbClr val="F0532B"/>
                  </a:solidFill>
                </a:uFill>
                <a:hlinkClick r:id="rId5" invalidUrl="" action="" tgtFrame="" tooltip="" history="1" highlightClick="0" endSnd="0"/>
              </a:rPr>
              <a:t>https://cams.mit.edu/wp-content/uploads/capitalonedatapaper.pdf</a:t>
            </a:r>
          </a:p>
          <a:p>
            <a:pPr marL="457200" indent="-457200">
              <a:spcBef>
                <a:spcPts val="700"/>
              </a:spcBef>
              <a:defRPr sz="1300">
                <a:solidFill>
                  <a:srgbClr val="FFFFFF"/>
                </a:solidFill>
              </a:defRPr>
            </a:pPr>
          </a:p>
          <a:p>
            <a:pPr marL="457200" indent="-457200">
              <a:spcBef>
                <a:spcPts val="700"/>
              </a:spcBef>
              <a:defRPr sz="1300">
                <a:solidFill>
                  <a:srgbClr val="FFFFFF"/>
                </a:solidFill>
              </a:defRPr>
            </a:pPr>
            <a:r>
              <a:t>Norton. (2019, September 5). </a:t>
            </a:r>
            <a:r>
              <a:rPr i="1"/>
              <a:t>What is a security breach? </a:t>
            </a:r>
            <a:r>
              <a:rPr u="sng">
                <a:solidFill>
                  <a:srgbClr val="F0532B"/>
                </a:solidFill>
                <a:uFill>
                  <a:solidFill>
                    <a:srgbClr val="F0532B"/>
                  </a:solidFill>
                </a:uFill>
                <a:hlinkClick r:id="rId6" invalidUrl="" action="" tgtFrame="" tooltip="" history="1" highlightClick="0" endSnd="0"/>
              </a:rPr>
              <a:t>https://us.norton.com/blog/privacy/security-breach</a:t>
            </a:r>
            <a:endParaRPr i="1"/>
          </a:p>
          <a:p>
            <a:pPr marL="457200" indent="-457200">
              <a:spcBef>
                <a:spcPts val="700"/>
              </a:spcBef>
              <a:defRPr sz="1300">
                <a:solidFill>
                  <a:srgbClr val="FFFFFF"/>
                </a:solidFill>
              </a:defRPr>
            </a:pPr>
          </a:p>
          <a:p>
            <a:pPr marL="457200" indent="-457200">
              <a:spcBef>
                <a:spcPts val="700"/>
              </a:spcBef>
              <a:defRPr sz="1300">
                <a:solidFill>
                  <a:srgbClr val="FFFFFF"/>
                </a:solidFill>
              </a:defRPr>
            </a:pPr>
            <a:r>
              <a:t>Software Engineering Institute. (n.d.). </a:t>
            </a:r>
            <a:r>
              <a:rPr i="1"/>
              <a:t>SEI CERT C coding standard</a:t>
            </a:r>
            <a:r>
              <a:t>. Carnegie Mellon University.</a:t>
            </a:r>
            <a:r>
              <a:rPr u="sng">
                <a:solidFill>
                  <a:srgbClr val="F0532B"/>
                </a:solidFill>
                <a:uFill>
                  <a:solidFill>
                    <a:srgbClr val="F0532B"/>
                  </a:solidFill>
                </a:uFill>
                <a:hlinkClick r:id="rId7" invalidUrl="" action="" tgtFrame="" tooltip="" history="1" highlightClick="0" endSnd="0"/>
              </a:rPr>
              <a:t>https://www.sei.cmu.edu/library/sei-cert-c-and-c-coding-standards/</a:t>
            </a:r>
          </a:p>
          <a:p>
            <a:pPr marL="457200" indent="-457200">
              <a:spcBef>
                <a:spcPts val="700"/>
              </a:spcBef>
              <a:defRPr sz="1300">
                <a:solidFill>
                  <a:srgbClr val="FFFFFF"/>
                </a:solidFill>
              </a:defRPr>
            </a:pPr>
          </a:p>
          <a:p>
            <a:pPr marL="457200" indent="-457200">
              <a:spcBef>
                <a:spcPts val="700"/>
              </a:spcBef>
              <a:defRPr sz="1300">
                <a:solidFill>
                  <a:srgbClr val="FFFFFF"/>
                </a:solidFill>
              </a:defRPr>
            </a:pPr>
            <a:r>
              <a:t>Software Engineering Institute. (n.d.). </a:t>
            </a:r>
            <a:r>
              <a:rPr i="1"/>
              <a:t>SEI CERT C++ coding standard</a:t>
            </a:r>
            <a:r>
              <a:t>. Carnegie Mellon University. </a:t>
            </a:r>
            <a:r>
              <a:rPr u="sng">
                <a:solidFill>
                  <a:srgbClr val="F0532B"/>
                </a:solidFill>
                <a:uFill>
                  <a:solidFill>
                    <a:srgbClr val="F0532B"/>
                  </a:solidFill>
                </a:uFill>
                <a:hlinkClick r:id="rId7" invalidUrl="" action="" tgtFrame="" tooltip="" history="1" highlightClick="0" endSnd="0"/>
              </a:rPr>
              <a:t>https://www.sei.cmu.edu/library/sei-cert-c-and-c-coding-standards/</a:t>
            </a:r>
          </a:p>
          <a:p>
            <a:pPr marL="457200" indent="-457200">
              <a:spcBef>
                <a:spcPts val="700"/>
              </a:spcBef>
              <a:defRPr sz="1300">
                <a:solidFill>
                  <a:srgbClr val="FFFFFF"/>
                </a:solidFill>
              </a:defRPr>
            </a:pPr>
          </a:p>
          <a:p>
            <a:pPr marL="457200" indent="-457200">
              <a:spcBef>
                <a:spcPts val="700"/>
              </a:spcBef>
              <a:defRPr sz="1300">
                <a:solidFill>
                  <a:srgbClr val="FFFFFF"/>
                </a:solidFill>
              </a:defRPr>
            </a:pPr>
            <a:r>
              <a:t>SonarSource. (n.d.). C++ static code analysis. Sonar. </a:t>
            </a:r>
            <a:r>
              <a:rPr u="sng">
                <a:solidFill>
                  <a:srgbClr val="F0532B"/>
                </a:solidFill>
                <a:uFill>
                  <a:solidFill>
                    <a:srgbClr val="F0532B"/>
                  </a:solidFill>
                </a:uFill>
                <a:hlinkClick r:id="rId8" invalidUrl="" action="" tgtFrame="" tooltip="" history="1" highlightClick="0" endSnd="0"/>
              </a:rPr>
              <a:t>https://www.sonarsource.com/knowledge/languages/cpp/</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000000"/>
      </a:lt1>
      <a:dk2>
        <a:srgbClr val="A7A7A7"/>
      </a:dk2>
      <a:lt2>
        <a:srgbClr val="535353"/>
      </a:lt2>
      <a:accent1>
        <a:srgbClr val="DF2E28"/>
      </a:accent1>
      <a:accent2>
        <a:srgbClr val="FE801A"/>
      </a:accent2>
      <a:accent3>
        <a:srgbClr val="E9BF35"/>
      </a:accent3>
      <a:accent4>
        <a:srgbClr val="81BB42"/>
      </a:accent4>
      <a:accent5>
        <a:srgbClr val="32C7A9"/>
      </a:accent5>
      <a:accent6>
        <a:srgbClr val="4A9BDC"/>
      </a:accent6>
      <a:hlink>
        <a:srgbClr val="0000FF"/>
      </a:hlink>
      <a:folHlink>
        <a:srgbClr val="FF00FF"/>
      </a:folHlink>
    </a:clrScheme>
    <a:fontScheme name="Vapor Trail">
      <a:majorFont>
        <a:latin typeface="Helvetica"/>
        <a:ea typeface="Helvetica"/>
        <a:cs typeface="Helvetica"/>
      </a:majorFont>
      <a:minorFont>
        <a:latin typeface="Arial"/>
        <a:ea typeface="Arial"/>
        <a:cs typeface="Arial"/>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A7A7A7"/>
      </a:dk2>
      <a:lt2>
        <a:srgbClr val="535353"/>
      </a:lt2>
      <a:accent1>
        <a:srgbClr val="DF2E28"/>
      </a:accent1>
      <a:accent2>
        <a:srgbClr val="FE801A"/>
      </a:accent2>
      <a:accent3>
        <a:srgbClr val="E9BF35"/>
      </a:accent3>
      <a:accent4>
        <a:srgbClr val="81BB42"/>
      </a:accent4>
      <a:accent5>
        <a:srgbClr val="32C7A9"/>
      </a:accent5>
      <a:accent6>
        <a:srgbClr val="4A9BDC"/>
      </a:accent6>
      <a:hlink>
        <a:srgbClr val="0000FF"/>
      </a:hlink>
      <a:folHlink>
        <a:srgbClr val="FF00FF"/>
      </a:folHlink>
    </a:clrScheme>
    <a:fontScheme name="Vapor Trail">
      <a:majorFont>
        <a:latin typeface="Helvetica"/>
        <a:ea typeface="Helvetica"/>
        <a:cs typeface="Helvetica"/>
      </a:majorFont>
      <a:minorFont>
        <a:latin typeface="Arial"/>
        <a:ea typeface="Arial"/>
        <a:cs typeface="Arial"/>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